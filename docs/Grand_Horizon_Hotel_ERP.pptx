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2423160"/>
            <a:ext cx="2743200" cy="1783080"/>
          </a:xfrm>
          <a:prstGeom prst="rect">
            <a:avLst/>
          </a:prstGeom>
          <a:solidFill>
            <a:srgbClr val="2C4270"/>
          </a:solidFill>
          <a:ln/>
        </p:spPr>
      </p:sp>
      <p:sp>
        <p:nvSpPr>
          <p:cNvPr id="3" name="Shape 1"/>
          <p:cNvSpPr/>
          <p:nvPr/>
        </p:nvSpPr>
        <p:spPr>
          <a:xfrm>
            <a:off x="8732520" y="1463040"/>
            <a:ext cx="3017520" cy="1097280"/>
          </a:xfrm>
          <a:prstGeom prst="triangle">
            <a:avLst/>
          </a:prstGeom>
          <a:solidFill>
            <a:srgbClr val="2C4270"/>
          </a:solidFill>
          <a:ln/>
        </p:spPr>
      </p:sp>
      <p:sp>
        <p:nvSpPr>
          <p:cNvPr id="4" name="Shape 2"/>
          <p:cNvSpPr/>
          <p:nvPr/>
        </p:nvSpPr>
        <p:spPr>
          <a:xfrm>
            <a:off x="9253728" y="2779776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5" name="Shape 3"/>
          <p:cNvSpPr/>
          <p:nvPr/>
        </p:nvSpPr>
        <p:spPr>
          <a:xfrm>
            <a:off x="10040112" y="2779776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6" name="Shape 4"/>
          <p:cNvSpPr/>
          <p:nvPr/>
        </p:nvSpPr>
        <p:spPr>
          <a:xfrm>
            <a:off x="10826496" y="2779776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7" name="Shape 5"/>
          <p:cNvSpPr/>
          <p:nvPr/>
        </p:nvSpPr>
        <p:spPr>
          <a:xfrm>
            <a:off x="9253728" y="3613709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8" name="Shape 6"/>
          <p:cNvSpPr/>
          <p:nvPr/>
        </p:nvSpPr>
        <p:spPr>
          <a:xfrm>
            <a:off x="10040112" y="3613709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9" name="Shape 7"/>
          <p:cNvSpPr/>
          <p:nvPr/>
        </p:nvSpPr>
        <p:spPr>
          <a:xfrm>
            <a:off x="10826496" y="3613709"/>
            <a:ext cx="402336" cy="603504"/>
          </a:xfrm>
          <a:prstGeom prst="rect">
            <a:avLst/>
          </a:prstGeom>
          <a:solidFill>
            <a:srgbClr val="C9A15A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960120"/>
            <a:ext cx="914400" cy="91440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34440" y="1165860"/>
            <a:ext cx="365760" cy="365760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1335024" y="1485900"/>
            <a:ext cx="164592" cy="182880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PROCESS AND ERP SYSTEMS — GROUP 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6974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Horizon Hotel ERP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548640" y="3703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system unifying reservations, rooms, guests, billing, inventory and HR around one shared database.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Cooray, BSST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0657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Gunathilaka, RRPH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3583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Kukarakshan, 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6509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Madarasingha, TR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Muhammed, AT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754880" y="4773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Nandhatilaka, NHS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50657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Panditharathna, Keshan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754880" y="53583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Rejishanth, 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54880" y="56509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Umayanga, MKKC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75488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Gunarathne, KADRS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17320" y="171907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20665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hospitality challenge we're solving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27706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&amp; Pre-ERP Challenges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1181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involved, what was broken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&amp; Architecture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416966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is designed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17320" y="487375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52212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data model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132320" y="171907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Core Modules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132320" y="20665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through Reports, one slide each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788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132320" y="27706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Integration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0" y="31181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checkout ties every module together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63640" y="3840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132320" y="382219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Deployment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32320" y="416966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cloud architecture &amp; CI/CD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63640" y="4892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CE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132320" y="487375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Conclusion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0" y="52212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map and closing takeaways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Hospitality Challenge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mid-sized independent hotel — “Grand Horizon Hotel” — runs on five interlocking processes. Today they operate as disconnected manual workflows across different staff and tools.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53912" y="1417320"/>
            <a:ext cx="585216" cy="58521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Shape 4"/>
          <p:cNvSpPr/>
          <p:nvPr/>
        </p:nvSpPr>
        <p:spPr>
          <a:xfrm>
            <a:off x="6329477" y="1548994"/>
            <a:ext cx="234086" cy="234086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6393851" y="1753819"/>
            <a:ext cx="105339" cy="117043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90372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Reservation-to-Stay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03720" y="17282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Booking, room hold, check-in, occupancy, check-out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359152"/>
            <a:ext cx="585216" cy="58521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Shape 9"/>
          <p:cNvSpPr/>
          <p:nvPr/>
        </p:nvSpPr>
        <p:spPr>
          <a:xfrm>
            <a:off x="6285586" y="2637130"/>
            <a:ext cx="321869" cy="1463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5586" y="2549347"/>
            <a:ext cx="102413" cy="102413"/>
          </a:xfrm>
          <a:prstGeom prst="rect">
            <a:avLst>
              <a:gd name="adj" fmla="val 1785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903720" y="23591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&amp; Housekeeping Operations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03720" y="26700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→ Occupied → Cleaning → Available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53912" y="3300984"/>
            <a:ext cx="585216" cy="58521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382146" y="3432658"/>
            <a:ext cx="128748" cy="1287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329477" y="3578962"/>
            <a:ext cx="234086" cy="23408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33009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Relationship Management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stay history, loyalty tracking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4242816"/>
            <a:ext cx="585216" cy="58521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314846" y="4418381"/>
            <a:ext cx="263347" cy="219456"/>
          </a:xfrm>
          <a:prstGeom prst="rect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14846" y="4520794"/>
            <a:ext cx="263347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424281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Procure-to-Pay (Supply Chain)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03720" y="45537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stock, reorder, receive, pay suppliers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53912" y="5184648"/>
            <a:ext cx="585216" cy="58521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0216" y="5383621"/>
            <a:ext cx="292608" cy="187269"/>
          </a:xfrm>
          <a:prstGeom prst="rect">
            <a:avLst>
              <a:gd name="adj" fmla="val 9766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8481" y="5439217"/>
            <a:ext cx="76078" cy="76078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518464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Order-to-Cash (Billing/Finance)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03720" y="5495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charges, invoice, collect payment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Stakeholders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099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Shape 4"/>
          <p:cNvSpPr/>
          <p:nvPr/>
        </p:nvSpPr>
        <p:spPr>
          <a:xfrm>
            <a:off x="949513" y="1825142"/>
            <a:ext cx="112654" cy="11265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03427" y="1953158"/>
            <a:ext cx="204826" cy="20482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3134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 Staff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71576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Create/modify reservations, check guests in/out, answer billing queries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83280" y="150876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84448" y="17099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699662" y="1953158"/>
            <a:ext cx="281635" cy="1280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699662" y="1876349"/>
            <a:ext cx="89611" cy="89611"/>
          </a:xfrm>
          <a:prstGeom prst="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23134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 Staff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84448" y="271576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room cleanliness status, flag maintenance issues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150876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419088" y="17099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7104" y="1884030"/>
            <a:ext cx="256032" cy="163860"/>
          </a:xfrm>
          <a:prstGeom prst="rect">
            <a:avLst>
              <a:gd name="adj" fmla="val 11161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1836" y="1932676"/>
            <a:ext cx="66568" cy="66568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9088" y="23134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Accounts Staff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19088" y="271576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invoices, record payments, manage supplier purchase orders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52560" y="150876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9253728" y="170992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9368942" y="2010766"/>
            <a:ext cx="56327" cy="704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9445752" y="1972361"/>
            <a:ext cx="56327" cy="108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522562" y="2036369"/>
            <a:ext cx="56327" cy="44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599371" y="1946758"/>
            <a:ext cx="56327" cy="134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9253728" y="23134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Manager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253728" y="271576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occupancy, revenue, staffing and supplier relationships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365760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31" name="Shape 29"/>
          <p:cNvSpPr/>
          <p:nvPr/>
        </p:nvSpPr>
        <p:spPr>
          <a:xfrm>
            <a:off x="749808" y="385876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2" name="Shape 30"/>
          <p:cNvSpPr/>
          <p:nvPr/>
        </p:nvSpPr>
        <p:spPr>
          <a:xfrm>
            <a:off x="903427" y="3973982"/>
            <a:ext cx="204826" cy="204826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0800000">
            <a:off x="959754" y="4153205"/>
            <a:ext cx="92172" cy="102413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46227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Guests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49808" y="486460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rooms; expect accurate billing and personalised service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83280" y="365760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37" name="Shape 35"/>
          <p:cNvSpPr/>
          <p:nvPr/>
        </p:nvSpPr>
        <p:spPr>
          <a:xfrm>
            <a:off x="3584448" y="385876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8" name="Shape 36"/>
          <p:cNvSpPr/>
          <p:nvPr/>
        </p:nvSpPr>
        <p:spPr>
          <a:xfrm>
            <a:off x="3725266" y="4012387"/>
            <a:ext cx="230429" cy="192024"/>
          </a:xfrm>
          <a:prstGeom prst="rect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5266" y="4101998"/>
            <a:ext cx="230429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84448" y="446227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84448" y="486460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linen, minibar stock, cleaning supplies; expect accurate POs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217920" y="3657600"/>
            <a:ext cx="2670048" cy="1965960"/>
          </a:xfrm>
          <a:prstGeom prst="rect">
            <a:avLst>
              <a:gd name="adj" fmla="val 2791"/>
            </a:avLst>
          </a:prstGeom>
          <a:solidFill>
            <a:srgbClr val="F3F4F7"/>
          </a:solidFill>
          <a:ln/>
        </p:spPr>
      </p:sp>
      <p:sp>
        <p:nvSpPr>
          <p:cNvPr id="43" name="Shape 41"/>
          <p:cNvSpPr/>
          <p:nvPr/>
        </p:nvSpPr>
        <p:spPr>
          <a:xfrm>
            <a:off x="6419088" y="3858768"/>
            <a:ext cx="512064" cy="512064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4" name="Shape 42"/>
          <p:cNvSpPr/>
          <p:nvPr/>
        </p:nvSpPr>
        <p:spPr>
          <a:xfrm>
            <a:off x="6559906" y="4087917"/>
            <a:ext cx="230429" cy="152339"/>
          </a:xfrm>
          <a:prstGeom prst="rect">
            <a:avLst>
              <a:gd name="adj" fmla="val 18007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601383" y="3980383"/>
            <a:ext cx="147474" cy="147474"/>
          </a:xfrm>
          <a:prstGeom prst="arc">
            <a:avLst>
              <a:gd name="adj1" fmla="val 10800000"/>
              <a:gd name="adj2" fmla="val 21600000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19088" y="446227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/ System Administrator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19088" y="4864608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 accounts, access control, and system uptime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of Siloed Operations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Grand Horizon runs today — before an integrated ERP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51460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Silos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92608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Reservations, housekeeping and billing are tracked separately and rarely agree — causing double-bookings.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5968" y="196596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251460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Guest History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7136" y="292608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returning guest's stays, preferences and loyalty tier aren't visible to whoever is on shift.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83296" y="196596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14" name="Text 12"/>
          <p:cNvSpPr/>
          <p:nvPr/>
        </p:nvSpPr>
        <p:spPr>
          <a:xfrm>
            <a:off x="8284464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84464" y="251460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Stock Tracking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4464" y="292608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Minibar and housekeeping supplies are counted by hand; stock-outs are found too late.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279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466344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Delayed, Error-Prone Billing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50749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from multiple sources must be reconciled manually at checkout.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11480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4279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17136" y="466344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50749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answer who changed a booking or approved a purchase order.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83296" y="4114800"/>
            <a:ext cx="3566160" cy="1920240"/>
          </a:xfrm>
          <a:prstGeom prst="rect">
            <a:avLst>
              <a:gd name="adj" fmla="val 2857"/>
            </a:avLst>
          </a:prstGeom>
          <a:solidFill>
            <a:srgbClr val="2C4270"/>
          </a:solidFill>
          <a:ln/>
        </p:spPr>
      </p:sp>
      <p:sp>
        <p:nvSpPr>
          <p:cNvPr id="26" name="Text 24"/>
          <p:cNvSpPr/>
          <p:nvPr/>
        </p:nvSpPr>
        <p:spPr>
          <a:xfrm>
            <a:off x="8284464" y="42793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84464" y="4663440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Confusion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4464" y="50749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access control, any staff member can see or edit any data.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Horizon Hotel ERP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integrated database replacing five disconnected manual processes.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6" name="Shape 4"/>
          <p:cNvSpPr/>
          <p:nvPr/>
        </p:nvSpPr>
        <p:spPr>
          <a:xfrm>
            <a:off x="726948" y="2245766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3758" y="2333549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1911096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Centralise reservations, rooms, guests, billing and inventory in one shared database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" y="3416198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3758" y="3503981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08152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room status lifecycle so front desk and housekeeping always agree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06824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14" name="Shape 12"/>
          <p:cNvSpPr/>
          <p:nvPr/>
        </p:nvSpPr>
        <p:spPr>
          <a:xfrm>
            <a:off x="726948" y="4586630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3758" y="4674413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425196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staff member role-based access to only the modules relevant to their job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0" y="1965960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4788" y="2245766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81598" y="2333549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1911096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low-stock alerts and purchase orders automatically from real consumption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0" y="3136392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304788" y="3416198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1598" y="3503981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308152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invoices automatically from the reservation and any extra charges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4306824"/>
            <a:ext cx="548640" cy="548640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4788" y="4586630"/>
            <a:ext cx="76810" cy="87782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1598" y="4674413"/>
            <a:ext cx="137160" cy="-181051"/>
          </a:xfrm>
          <a:prstGeom prst="line">
            <a:avLst/>
          </a:prstGeom>
          <a:noFill/>
          <a:ln w="33020">
            <a:solidFill>
              <a:srgbClr val="1B2A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425196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 system-wide audit log for accountability and issue investigation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863840" cy="960120"/>
          </a:xfrm>
          <a:prstGeom prst="rect">
            <a:avLst>
              <a:gd name="adj" fmla="val 4762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· CSS3 · Bootstrap 5 — role-aware navigation (header, sidebar, footer)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rot="10800000">
            <a:off x="4370832" y="2404872"/>
            <a:ext cx="219456" cy="201168"/>
          </a:xfrm>
          <a:prstGeom prst="triangle">
            <a:avLst/>
          </a:prstGeom>
          <a:solidFill>
            <a:srgbClr val="5B6472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697480"/>
            <a:ext cx="7863840" cy="960120"/>
          </a:xfrm>
          <a:prstGeom prst="rect">
            <a:avLst>
              <a:gd name="adj" fmla="val 4762"/>
            </a:avLst>
          </a:prstGeom>
          <a:solidFill>
            <a:srgbClr val="2C427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78892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1546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 modules — validation, workflow rules, role-based access control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10800000">
            <a:off x="4370832" y="3685032"/>
            <a:ext cx="219456" cy="201168"/>
          </a:xfrm>
          <a:prstGeom prst="triangle">
            <a:avLst/>
          </a:prstGeom>
          <a:solidFill>
            <a:srgbClr val="5B647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977640"/>
            <a:ext cx="7863840" cy="960120"/>
          </a:xfrm>
          <a:prstGeom prst="rect">
            <a:avLst>
              <a:gd name="adj" fmla="val 4762"/>
            </a:avLst>
          </a:prstGeom>
          <a:solidFill>
            <a:srgbClr val="121D3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069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434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PDO → Azure SQL Database — one shared schema for every module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778240" y="1783080"/>
            <a:ext cx="2834640" cy="402336"/>
          </a:xfrm>
          <a:prstGeom prst="rect">
            <a:avLst>
              <a:gd name="adj" fmla="val 11364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8915400" y="18196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 (PDO)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778240" y="2313432"/>
            <a:ext cx="2834640" cy="402336"/>
          </a:xfrm>
          <a:prstGeom prst="rect">
            <a:avLst>
              <a:gd name="adj" fmla="val 11364"/>
            </a:avLst>
          </a:prstGeom>
          <a:solidFill>
            <a:srgbClr val="F3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8915400" y="23500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778240" y="2843784"/>
            <a:ext cx="2834640" cy="402336"/>
          </a:xfrm>
          <a:prstGeom prst="rect">
            <a:avLst>
              <a:gd name="adj" fmla="val 11364"/>
            </a:avLst>
          </a:prstGeom>
          <a:solidFill>
            <a:srgbClr val="F3F4F7"/>
          </a:solidFill>
          <a:ln/>
        </p:spPr>
      </p:sp>
      <p:sp>
        <p:nvSpPr>
          <p:cNvPr id="21" name="Text 19"/>
          <p:cNvSpPr/>
          <p:nvPr/>
        </p:nvSpPr>
        <p:spPr>
          <a:xfrm>
            <a:off x="8915400" y="288036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+ Bootstrap 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778240" y="3374136"/>
            <a:ext cx="2834640" cy="402336"/>
          </a:xfrm>
          <a:prstGeom prst="rect">
            <a:avLst>
              <a:gd name="adj" fmla="val 11364"/>
            </a:avLst>
          </a:prstGeom>
          <a:solidFill>
            <a:srgbClr val="F3F4F7"/>
          </a:solidFill>
          <a:ln/>
        </p:spPr>
      </p:sp>
      <p:sp>
        <p:nvSpPr>
          <p:cNvPr id="23" name="Text 21"/>
          <p:cNvSpPr/>
          <p:nvPr/>
        </p:nvSpPr>
        <p:spPr>
          <a:xfrm>
            <a:off x="8915400" y="341071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Database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78240" y="3904488"/>
            <a:ext cx="2834640" cy="402336"/>
          </a:xfrm>
          <a:prstGeom prst="rect">
            <a:avLst>
              <a:gd name="adj" fmla="val 11364"/>
            </a:avLst>
          </a:prstGeom>
          <a:solidFill>
            <a:srgbClr val="F3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8915400" y="394106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(local dev fallback)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PHP codebase runs unmodified in both environments — config/db.php auto-detects the available PDO driver.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 — Shared Schema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database, four functional clusters — every module reads and writes the same tables.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3246120"/>
          </a:xfrm>
          <a:prstGeom prst="rect">
            <a:avLst>
              <a:gd name="adj" fmla="val 2105"/>
            </a:avLst>
          </a:prstGeom>
          <a:solidFill>
            <a:srgbClr val="F3F4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2606040" cy="777240"/>
          </a:xfrm>
          <a:prstGeom prst="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331720"/>
            <a:ext cx="260604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Shape 6"/>
          <p:cNvSpPr/>
          <p:nvPr/>
        </p:nvSpPr>
        <p:spPr>
          <a:xfrm>
            <a:off x="722376" y="2121408"/>
            <a:ext cx="475488" cy="475488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9" name="Shape 7"/>
          <p:cNvSpPr/>
          <p:nvPr/>
        </p:nvSpPr>
        <p:spPr>
          <a:xfrm>
            <a:off x="863834" y="2336685"/>
            <a:ext cx="192573" cy="127312"/>
          </a:xfrm>
          <a:prstGeom prst="rect">
            <a:avLst>
              <a:gd name="adj" fmla="val 2154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98497" y="2246818"/>
            <a:ext cx="123246" cy="123246"/>
          </a:xfrm>
          <a:prstGeom prst="arc">
            <a:avLst>
              <a:gd name="adj1" fmla="val 10800000"/>
              <a:gd name="adj2" fmla="val 21600000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21305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Access &amp; HR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" y="301752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" y="352044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29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" y="402336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AuditLog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" y="452628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434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1965960"/>
            <a:ext cx="2606040" cy="3246120"/>
          </a:xfrm>
          <a:prstGeom prst="rect">
            <a:avLst>
              <a:gd name="adj" fmla="val 2105"/>
            </a:avLst>
          </a:prstGeom>
          <a:solidFill>
            <a:srgbClr val="F3F4F7"/>
          </a:solidFill>
          <a:ln/>
        </p:spPr>
      </p:sp>
      <p:sp>
        <p:nvSpPr>
          <p:cNvPr id="21" name="Shape 19"/>
          <p:cNvSpPr/>
          <p:nvPr/>
        </p:nvSpPr>
        <p:spPr>
          <a:xfrm>
            <a:off x="3429000" y="1965960"/>
            <a:ext cx="2606040" cy="777240"/>
          </a:xfrm>
          <a:prstGeom prst="rect">
            <a:avLst>
              <a:gd name="adj" fmla="val 7059"/>
            </a:avLst>
          </a:prstGeom>
          <a:solidFill>
            <a:srgbClr val="2C4270"/>
          </a:solidFill>
          <a:ln/>
        </p:spPr>
      </p:sp>
      <p:sp>
        <p:nvSpPr>
          <p:cNvPr id="22" name="Shape 20"/>
          <p:cNvSpPr/>
          <p:nvPr/>
        </p:nvSpPr>
        <p:spPr>
          <a:xfrm>
            <a:off x="3429000" y="2331720"/>
            <a:ext cx="2606040" cy="411480"/>
          </a:xfrm>
          <a:prstGeom prst="rect">
            <a:avLst/>
          </a:prstGeom>
          <a:solidFill>
            <a:srgbClr val="2C4270"/>
          </a:solidFill>
          <a:ln/>
        </p:spPr>
      </p:sp>
      <p:sp>
        <p:nvSpPr>
          <p:cNvPr id="23" name="Shape 21"/>
          <p:cNvSpPr/>
          <p:nvPr/>
        </p:nvSpPr>
        <p:spPr>
          <a:xfrm>
            <a:off x="3602736" y="2121408"/>
            <a:ext cx="475488" cy="475488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4892" y="2241469"/>
            <a:ext cx="171176" cy="171176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3801965" y="2391247"/>
            <a:ext cx="77029" cy="8558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206240" y="21305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&amp; Rooms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685032" y="301752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8" name="Text 26"/>
          <p:cNvSpPr/>
          <p:nvPr/>
        </p:nvSpPr>
        <p:spPr>
          <a:xfrm>
            <a:off x="3867912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Reservations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85032" y="352044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30" name="Text 28"/>
          <p:cNvSpPr/>
          <p:nvPr/>
        </p:nvSpPr>
        <p:spPr>
          <a:xfrm>
            <a:off x="3867912" y="3429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85032" y="402336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32" name="Text 30"/>
          <p:cNvSpPr/>
          <p:nvPr/>
        </p:nvSpPr>
        <p:spPr>
          <a:xfrm>
            <a:off x="386791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85032" y="452628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34" name="Text 32"/>
          <p:cNvSpPr/>
          <p:nvPr/>
        </p:nvSpPr>
        <p:spPr>
          <a:xfrm>
            <a:off x="3867912" y="4434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RoomTypes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09360" y="1965960"/>
            <a:ext cx="2606040" cy="3246120"/>
          </a:xfrm>
          <a:prstGeom prst="rect">
            <a:avLst>
              <a:gd name="adj" fmla="val 2105"/>
            </a:avLst>
          </a:prstGeom>
          <a:solidFill>
            <a:srgbClr val="F3F4F7"/>
          </a:solidFill>
          <a:ln/>
        </p:spPr>
      </p:sp>
      <p:sp>
        <p:nvSpPr>
          <p:cNvPr id="36" name="Shape 34"/>
          <p:cNvSpPr/>
          <p:nvPr/>
        </p:nvSpPr>
        <p:spPr>
          <a:xfrm>
            <a:off x="6309360" y="1965960"/>
            <a:ext cx="2606040" cy="777240"/>
          </a:xfrm>
          <a:prstGeom prst="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0" y="2331720"/>
            <a:ext cx="2606040" cy="411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Shape 36"/>
          <p:cNvSpPr/>
          <p:nvPr/>
        </p:nvSpPr>
        <p:spPr>
          <a:xfrm>
            <a:off x="6483096" y="2121408"/>
            <a:ext cx="475488" cy="475488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39" name="Shape 37"/>
          <p:cNvSpPr/>
          <p:nvPr/>
        </p:nvSpPr>
        <p:spPr>
          <a:xfrm>
            <a:off x="6613855" y="2290682"/>
            <a:ext cx="213970" cy="136941"/>
          </a:xfrm>
          <a:prstGeom prst="rect">
            <a:avLst>
              <a:gd name="adj" fmla="val 13355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93024" y="2331336"/>
            <a:ext cx="55632" cy="55632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86600" y="21305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Finance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565392" y="301752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/>
          <p:nvPr/>
        </p:nvSpPr>
        <p:spPr>
          <a:xfrm>
            <a:off x="6748272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565392" y="352044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/>
          <p:nvPr/>
        </p:nvSpPr>
        <p:spPr>
          <a:xfrm>
            <a:off x="6748272" y="3429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InvoiceItems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565392" y="4023360"/>
            <a:ext cx="82296" cy="8229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/>
          <p:nvPr/>
        </p:nvSpPr>
        <p:spPr>
          <a:xfrm>
            <a:off x="674827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9189720" y="1965960"/>
            <a:ext cx="2606040" cy="3246120"/>
          </a:xfrm>
          <a:prstGeom prst="rect">
            <a:avLst>
              <a:gd name="adj" fmla="val 2105"/>
            </a:avLst>
          </a:prstGeom>
          <a:solidFill>
            <a:srgbClr val="F3F4F7"/>
          </a:solidFill>
          <a:ln/>
        </p:spPr>
      </p:sp>
      <p:sp>
        <p:nvSpPr>
          <p:cNvPr id="49" name="Shape 47"/>
          <p:cNvSpPr/>
          <p:nvPr/>
        </p:nvSpPr>
        <p:spPr>
          <a:xfrm>
            <a:off x="9189720" y="1965960"/>
            <a:ext cx="2606040" cy="777240"/>
          </a:xfrm>
          <a:prstGeom prst="rect">
            <a:avLst>
              <a:gd name="adj" fmla="val 7059"/>
            </a:avLst>
          </a:prstGeom>
          <a:solidFill>
            <a:srgbClr val="2C4270"/>
          </a:solidFill>
          <a:ln/>
        </p:spPr>
      </p:sp>
      <p:sp>
        <p:nvSpPr>
          <p:cNvPr id="50" name="Shape 48"/>
          <p:cNvSpPr/>
          <p:nvPr/>
        </p:nvSpPr>
        <p:spPr>
          <a:xfrm>
            <a:off x="9189720" y="2331720"/>
            <a:ext cx="2606040" cy="411480"/>
          </a:xfrm>
          <a:prstGeom prst="rect">
            <a:avLst/>
          </a:prstGeom>
          <a:solidFill>
            <a:srgbClr val="2C4270"/>
          </a:solidFill>
          <a:ln/>
        </p:spPr>
      </p:sp>
      <p:sp>
        <p:nvSpPr>
          <p:cNvPr id="51" name="Shape 49"/>
          <p:cNvSpPr/>
          <p:nvPr/>
        </p:nvSpPr>
        <p:spPr>
          <a:xfrm>
            <a:off x="9363456" y="2121408"/>
            <a:ext cx="475488" cy="475488"/>
          </a:xfrm>
          <a:prstGeom prst="ellipse">
            <a:avLst/>
          </a:prstGeom>
          <a:solidFill>
            <a:srgbClr val="C9A15A"/>
          </a:solidFill>
          <a:ln/>
        </p:spPr>
      </p:sp>
      <p:sp>
        <p:nvSpPr>
          <p:cNvPr id="52" name="Shape 50"/>
          <p:cNvSpPr/>
          <p:nvPr/>
        </p:nvSpPr>
        <p:spPr>
          <a:xfrm>
            <a:off x="9504914" y="2273564"/>
            <a:ext cx="192573" cy="160477"/>
          </a:xfrm>
          <a:prstGeom prst="rect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504914" y="2348454"/>
            <a:ext cx="192573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213055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&amp; Inventory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9445752" y="301752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6" name="Text 54"/>
          <p:cNvSpPr/>
          <p:nvPr/>
        </p:nvSpPr>
        <p:spPr>
          <a:xfrm>
            <a:off x="9628632" y="29260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Suppliers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445752" y="352044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8" name="Text 56"/>
          <p:cNvSpPr/>
          <p:nvPr/>
        </p:nvSpPr>
        <p:spPr>
          <a:xfrm>
            <a:off x="9628632" y="34290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PurchaseOrders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445752" y="402336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60" name="Text 58"/>
          <p:cNvSpPr/>
          <p:nvPr/>
        </p:nvSpPr>
        <p:spPr>
          <a:xfrm>
            <a:off x="9628632" y="3931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PurchaseOrderItems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9445752" y="4526280"/>
            <a:ext cx="82296" cy="8229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62" name="Text 60"/>
          <p:cNvSpPr/>
          <p:nvPr/>
        </p:nvSpPr>
        <p:spPr>
          <a:xfrm>
            <a:off x="9628632" y="4434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InventoryItems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6071616" y="3657600"/>
            <a:ext cx="201168" cy="0"/>
          </a:xfrm>
          <a:prstGeom prst="line">
            <a:avLst/>
          </a:prstGeom>
          <a:noFill/>
          <a:ln w="31750">
            <a:solidFill>
              <a:srgbClr val="C9A15A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532120" y="32735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i="1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creates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8951976" y="3657600"/>
            <a:ext cx="201168" cy="0"/>
          </a:xfrm>
          <a:prstGeom prst="line">
            <a:avLst/>
          </a:prstGeom>
          <a:noFill/>
          <a:ln w="31750">
            <a:solidFill>
              <a:srgbClr val="C9A15A"/>
            </a:solidFill>
            <a:prstDash val="solid"/>
            <a:tailEnd type="triangle"/>
          </a:ln>
        </p:spPr>
      </p:sp>
      <p:sp>
        <p:nvSpPr>
          <p:cNvPr id="66" name="Text 64"/>
          <p:cNvSpPr/>
          <p:nvPr/>
        </p:nvSpPr>
        <p:spPr>
          <a:xfrm>
            <a:off x="8412480" y="32735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i="1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items decrement stock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48640" y="5486400"/>
            <a:ext cx="11247120" cy="822960"/>
          </a:xfrm>
          <a:prstGeom prst="rect">
            <a:avLst>
              <a:gd name="adj" fmla="val 6667"/>
            </a:avLst>
          </a:prstGeom>
          <a:solidFill>
            <a:srgbClr val="121D33"/>
          </a:solidFill>
          <a:ln/>
        </p:spPr>
      </p:sp>
      <p:sp>
        <p:nvSpPr>
          <p:cNvPr id="68" name="Text 66"/>
          <p:cNvSpPr/>
          <p:nvPr/>
        </p:nvSpPr>
        <p:spPr>
          <a:xfrm>
            <a:off x="777240" y="5486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integration points:  InvoiceItems.ItemID ties Billing to the exact InventoryItems row it consumes  ·  PurchaseOrderItems.ItemID closes the loop by restocking that same table  ·  every write is logged to AuditLog.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1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655046" y="998753"/>
            <a:ext cx="452628" cy="299237"/>
          </a:xfrm>
          <a:prstGeom prst="rect">
            <a:avLst>
              <a:gd name="adj" fmla="val 91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736519" y="787527"/>
            <a:ext cx="289682" cy="289682"/>
          </a:xfrm>
          <a:prstGeom prst="arc">
            <a:avLst>
              <a:gd name="adj1" fmla="val 10800000"/>
              <a:gd name="adj2" fmla="val 21600000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logout.php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419856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328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includes/auth.php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Login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sessions with bcrypt password hashing — no plaintext passwords anywhere, including seed data.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includes/auth.php drives which modules and pages each account can reach.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8" name="Shape 26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Demo Roles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Manager, FrontDesk, Housekeeping and Finance — each sees only what's relevant to their job.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2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" name="Shape 3"/>
          <p:cNvSpPr/>
          <p:nvPr/>
        </p:nvSpPr>
        <p:spPr>
          <a:xfrm>
            <a:off x="10629900" y="850392"/>
            <a:ext cx="502920" cy="402336"/>
          </a:xfrm>
          <a:prstGeom prst="rect">
            <a:avLst>
              <a:gd name="adj" fmla="val 4545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0484" y="1101852"/>
            <a:ext cx="0" cy="-176022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81360" y="1101852"/>
            <a:ext cx="0" cy="-100584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32236" y="1101852"/>
            <a:ext cx="0" cy="-25146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4" name="Shape 12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After Login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every role sees once authenticated.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Cross-Module KPIs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Occupancy, revenue and workflow status pulled live from every module.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Operational Snapshot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managers and staff an at-a-glance view without digging through separate pages.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3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680192" y="774954"/>
            <a:ext cx="402336" cy="402336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0790834" y="1126998"/>
            <a:ext cx="181051" cy="20116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modules/reservations/list.php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add.php · edit.php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checkin.php · checkout.php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419856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328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cancel.php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Business Process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CRUD covering the full guest journey from enquiry to stay.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 Prevention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rules stop a room being sold twice for overlapping dates.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8" name="Shape 26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/ Check-Out Automation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actions that cascade updates into Rooms and Billing.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4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" name="Shape 3"/>
          <p:cNvSpPr/>
          <p:nvPr/>
        </p:nvSpPr>
        <p:spPr>
          <a:xfrm>
            <a:off x="10604754" y="1026414"/>
            <a:ext cx="553212" cy="2514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604754" y="875538"/>
            <a:ext cx="176022" cy="176022"/>
          </a:xfrm>
          <a:prstGeom prst="rect">
            <a:avLst>
              <a:gd name="adj" fmla="val 10390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modules/rooms/list.php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add.php · edit.php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update-status.php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419856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328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types.php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 Lifecycle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→ Occupied → Cleaning → Available, enforced in the data model.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3" name="Shape 21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 / Housekeeping Coordination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teams see the exact same live status — no whiteboard, no phone calls.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8" name="Shape 26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Sold Twice or Dirty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status machine prevents booking a room that isn't actually ready.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5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Guest Management (CRM)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770718" y="774954"/>
            <a:ext cx="221285" cy="22128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1026414"/>
            <a:ext cx="402336" cy="40233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modules/guests/list.php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add.php · edit.php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Shape 14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Guest Profile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per guest instead of scattered notes across shifts.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History &amp; Lifetime Spend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reservation and invoice rolls up automatically into the profile.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Tier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recognition and personalised service for repeat guests.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6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&amp; Supply Chain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" name="Shape 3"/>
          <p:cNvSpPr/>
          <p:nvPr/>
        </p:nvSpPr>
        <p:spPr>
          <a:xfrm>
            <a:off x="10655046" y="850392"/>
            <a:ext cx="452628" cy="377190"/>
          </a:xfrm>
          <a:prstGeom prst="rect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55046" y="1026414"/>
            <a:ext cx="452628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modules/inventory/list.php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add.php · edit.php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suppliers.php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419856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328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po-create · po-view · po-action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Supplier CRUD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Linen, minibar and cleaning supplies tracked with live quantities.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3" name="Shape 21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Purchase Order Lifecycle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→ approve → receive, restocking inventory automatically on receipt.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8" name="Shape 26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Demand-Driven Reordering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recorded at checkout feeds directly into restock decisions.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7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 &amp;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629900" y="890626"/>
            <a:ext cx="502920" cy="321869"/>
          </a:xfrm>
          <a:prstGeom prst="rect">
            <a:avLst>
              <a:gd name="adj" fmla="val 5682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15980" y="986180"/>
            <a:ext cx="130759" cy="130759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modules/billing/list.php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6" name="Shape 14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Invoice Generation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charges calculated from length of stay and rate at checkout.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Charges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+ consumed inventory items combined into one accurate invoice.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Recording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happens once, in the system, not manually at the front desk.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 8 OF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Employees (HR) &amp; User Admin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5" name="Shape 3"/>
          <p:cNvSpPr/>
          <p:nvPr/>
        </p:nvSpPr>
        <p:spPr>
          <a:xfrm>
            <a:off x="10770718" y="774954"/>
            <a:ext cx="221285" cy="22128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1026414"/>
            <a:ext cx="402336" cy="40233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modules/employees/list.php · add.php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651760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560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modules/users/list.php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2944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toggle-status.php · audit-log.php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6" name="Shape 14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Records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data optionally linked to a system login account.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1" name="Shape 19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Admin-Only User Management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Enable, disable and manage accounts from a single screen.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Log Viewer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meaningful action across every module is traceable for accountability.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Analytics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378440" y="548640"/>
            <a:ext cx="1005840" cy="10058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604754" y="1139571"/>
            <a:ext cx="110642" cy="1383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755630" y="1064133"/>
            <a:ext cx="110642" cy="2137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906506" y="1189863"/>
            <a:ext cx="110642" cy="880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1057382" y="1013841"/>
            <a:ext cx="110642" cy="2640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1600200"/>
            <a:ext cx="4709160" cy="4434840"/>
          </a:xfrm>
          <a:prstGeom prst="rect">
            <a:avLst>
              <a:gd name="adj" fmla="val 123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2267712"/>
            <a:ext cx="73152" cy="7315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21762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modules/reports/index.php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16002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680710" y="183337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44718" y="190652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56362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Room Type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26480" y="18928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Cross-module financial analysis pulled straight from the shared schema.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32120" y="26517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0710" y="288493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4718" y="295808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261518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Status Breakdown &amp; Low-Stock Alerts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126480" y="29443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visibility for managers without a manual walk-through.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32120" y="3703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0710" y="3936492"/>
            <a:ext cx="64008" cy="73152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44718" y="4009644"/>
            <a:ext cx="114300" cy="-15087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66674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Top-Spending Guests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126480" y="3995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CRM-driven analytics identifying guests worth prioritising for retention.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Checkout Flow — One Action, Four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modules/reservations/checkout.php runs a single database transaction that keeps every module in sync — the clearest example of ERP integration in this system.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983480" y="2377440"/>
            <a:ext cx="1737360" cy="173736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498348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0" y="3246120"/>
            <a:ext cx="0" cy="-2148840"/>
          </a:xfrm>
          <a:prstGeom prst="line">
            <a:avLst/>
          </a:prstGeom>
          <a:noFill/>
          <a:ln w="27940">
            <a:solidFill>
              <a:srgbClr val="C9A1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0" y="3246120"/>
            <a:ext cx="3657600" cy="0"/>
          </a:xfrm>
          <a:prstGeom prst="line">
            <a:avLst/>
          </a:prstGeom>
          <a:noFill/>
          <a:ln w="27940">
            <a:solidFill>
              <a:srgbClr val="C9A1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0" y="3246120"/>
            <a:ext cx="0" cy="2148840"/>
          </a:xfrm>
          <a:prstGeom prst="line">
            <a:avLst/>
          </a:prstGeom>
          <a:noFill/>
          <a:ln w="27940">
            <a:solidFill>
              <a:srgbClr val="C9A1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52160" y="3246120"/>
            <a:ext cx="-3657600" cy="0"/>
          </a:xfrm>
          <a:prstGeom prst="line">
            <a:avLst/>
          </a:prstGeom>
          <a:noFill/>
          <a:ln w="27940">
            <a:solidFill>
              <a:srgbClr val="C9A1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93792" y="438912"/>
            <a:ext cx="1316736" cy="131673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Shape 10"/>
          <p:cNvSpPr/>
          <p:nvPr/>
        </p:nvSpPr>
        <p:spPr>
          <a:xfrm>
            <a:off x="5588813" y="735178"/>
            <a:ext cx="526694" cy="526694"/>
          </a:xfrm>
          <a:prstGeom prst="ellipse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5733654" y="1196035"/>
            <a:ext cx="237012" cy="263347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8105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→ Completed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51392" y="2587752"/>
            <a:ext cx="1316736" cy="131673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7658" y="3213202"/>
            <a:ext cx="724205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7658" y="3015691"/>
            <a:ext cx="230429" cy="230429"/>
          </a:xfrm>
          <a:prstGeom prst="rect">
            <a:avLst>
              <a:gd name="adj" fmla="val 793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39593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4251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→ Cleaning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193792" y="4736592"/>
            <a:ext cx="1316736" cy="1316736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5522976" y="5184282"/>
            <a:ext cx="658368" cy="421356"/>
          </a:xfrm>
          <a:prstGeom prst="rect">
            <a:avLst>
              <a:gd name="adj" fmla="val 4340"/>
            </a:avLst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66572" y="5309372"/>
            <a:ext cx="171176" cy="171176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6108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6344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generated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536192" y="2587752"/>
            <a:ext cx="1316736" cy="1316736"/>
          </a:xfrm>
          <a:prstGeom prst="ellipse">
            <a:avLst/>
          </a:prstGeom>
          <a:solidFill>
            <a:srgbClr val="2C427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98294" y="2982773"/>
            <a:ext cx="592531" cy="493776"/>
          </a:xfrm>
          <a:prstGeom prst="rect">
            <a:avLst/>
          </a:prstGeom>
          <a:ln w="2794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98294" y="3213202"/>
            <a:ext cx="592531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39593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251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decremented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systems integration in action — replacing siloed manual reconciliation with one atomic transaction.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 Cloud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live on Microsoft Azure with continuous deployment from GitHub.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377440" cy="1051560"/>
          </a:xfrm>
          <a:prstGeom prst="rect">
            <a:avLst>
              <a:gd name="adj" fmla="val 5217"/>
            </a:avLst>
          </a:prstGeom>
          <a:solidFill>
            <a:srgbClr val="2C427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2128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03120"/>
            <a:ext cx="2377440" cy="1051560"/>
          </a:xfrm>
          <a:prstGeom prst="rect">
            <a:avLst>
              <a:gd name="adj" fmla="val 5217"/>
            </a:avLst>
          </a:prstGeom>
          <a:solidFill>
            <a:srgbClr val="2C4270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2128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20440" y="25603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azure-deploy.yml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651760" cy="1051560"/>
          </a:xfrm>
          <a:prstGeom prst="rect">
            <a:avLst>
              <a:gd name="adj" fmla="val 5217"/>
            </a:avLst>
          </a:prstGeom>
          <a:solidFill>
            <a:srgbClr val="2C4270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4813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55080" y="1828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· PHP 8.2 · B1 tier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India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108960"/>
            <a:ext cx="2651760" cy="1051560"/>
          </a:xfrm>
          <a:prstGeom prst="rect">
            <a:avLst>
              <a:gd name="adj" fmla="val 5217"/>
            </a:avLst>
          </a:prstGeom>
          <a:solidFill>
            <a:srgbClr val="2C4270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32186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Database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5508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hotel_erp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Asia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281160" y="2103120"/>
            <a:ext cx="2331720" cy="1051560"/>
          </a:xfrm>
          <a:prstGeom prst="rect">
            <a:avLst>
              <a:gd name="adj" fmla="val 5217"/>
            </a:avLst>
          </a:prstGeom>
          <a:solidFill>
            <a:srgbClr val="2C4270"/>
          </a:solidFill>
          <a:ln/>
        </p:spPr>
      </p:sp>
      <p:sp>
        <p:nvSpPr>
          <p:cNvPr id="18" name="Text 16"/>
          <p:cNvSpPr/>
          <p:nvPr/>
        </p:nvSpPr>
        <p:spPr>
          <a:xfrm>
            <a:off x="9418320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18320" y="25603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hotelerpfci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.azurewebsites.net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26080" y="2628900"/>
            <a:ext cx="457200" cy="0"/>
          </a:xfrm>
          <a:prstGeom prst="line">
            <a:avLst/>
          </a:prstGeom>
          <a:noFill/>
          <a:ln w="25400">
            <a:solidFill>
              <a:srgbClr val="C9A1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60720" y="2628900"/>
            <a:ext cx="457200" cy="-726948"/>
          </a:xfrm>
          <a:prstGeom prst="line">
            <a:avLst/>
          </a:prstGeom>
          <a:noFill/>
          <a:ln w="25400">
            <a:solidFill>
              <a:srgbClr val="C9A1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60720" y="2628900"/>
            <a:ext cx="457200" cy="1010412"/>
          </a:xfrm>
          <a:prstGeom prst="line">
            <a:avLst/>
          </a:prstGeom>
          <a:noFill/>
          <a:ln w="25400">
            <a:solidFill>
              <a:srgbClr val="C9A1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69680" y="1901952"/>
            <a:ext cx="411480" cy="635508"/>
          </a:xfrm>
          <a:prstGeom prst="line">
            <a:avLst/>
          </a:prstGeom>
          <a:noFill/>
          <a:ln w="25400">
            <a:solidFill>
              <a:srgbClr val="C9A1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0" y="3639312"/>
            <a:ext cx="411480" cy="-918972"/>
          </a:xfrm>
          <a:prstGeom prst="line">
            <a:avLst/>
          </a:prstGeom>
          <a:noFill/>
          <a:ln w="25400">
            <a:solidFill>
              <a:srgbClr val="C9A1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26440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main  →  build &amp; lint  →  deploy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109960" cy="1371600"/>
          </a:xfrm>
          <a:prstGeom prst="rect">
            <a:avLst>
              <a:gd name="adj" fmla="val 4000"/>
            </a:avLst>
          </a:prstGeom>
          <a:solidFill>
            <a:srgbClr val="203258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5212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https://hotelerpfci.azurewebsites.net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22960" y="5715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to main automatically builds, lints and redeploys the live application.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Team, Contributions &amp; 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Cooray, BSST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926080" y="1417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Core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7282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Gunathilaka, RRPH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72821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UI Shell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039112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391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Kukarakshan, 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203911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3500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Madarasingha, TR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350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60904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609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Muhammed, 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Management (CRM)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417320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4173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Nandhatilaka, NHS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49640" y="1417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Supply Chain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17282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Panditharathna, Keshan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49640" y="172821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Payments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2039112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0391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Rejishanth, 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203911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&amp; User Admin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23500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Umayanga, MKKC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49640" y="2350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Database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2660904"/>
            <a:ext cx="5303520" cy="310896"/>
          </a:xfrm>
          <a:prstGeom prst="rect">
            <a:avLst/>
          </a:prstGeom>
          <a:solidFill>
            <a:srgbClr val="203258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6609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Gunarathne, KADRS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DevOps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11109960" cy="2468880"/>
          </a:xfrm>
          <a:prstGeom prst="rect">
            <a:avLst>
              <a:gd name="adj" fmla="val 2222"/>
            </a:avLst>
          </a:prstGeom>
          <a:solidFill>
            <a:srgbClr val="2C4270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TAKEAWAY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8680" y="388620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prototype demonstrates how integrating siloed hotel operations into one shared ERP database and workflow eliminates double-bookings, billing errors and stock-outs — while giving every role exactly the access they need. That is the core systems-integration argument at the heart of Enterprise Systems for Management.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68680" y="5166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4CE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2026-07-13T18:40:47Z</dcterms:created>
  <dcterms:modified xsi:type="dcterms:W3CDTF">2026-07-13T18:40:47Z</dcterms:modified>
</cp:coreProperties>
</file>