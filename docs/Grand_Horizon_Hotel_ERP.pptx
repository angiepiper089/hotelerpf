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slide" Target="slides/slide20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D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869680" y="2423160"/>
            <a:ext cx="2743200" cy="1783080"/>
          </a:xfrm>
          <a:prstGeom prst="rect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732520" y="1463040"/>
            <a:ext cx="3017520" cy="1097280"/>
          </a:xfrm>
          <a:prstGeom prst="triangle">
            <a:avLst>
              <a:gd fmla="val 50000" name="adj"/>
            </a:avLst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253728" y="2779776"/>
            <a:ext cx="402336" cy="603504"/>
          </a:xfrm>
          <a:prstGeom prst="rect">
            <a:avLst/>
          </a:prstGeom>
          <a:solidFill>
            <a:srgbClr val="C9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0040112" y="2779776"/>
            <a:ext cx="402336" cy="603504"/>
          </a:xfrm>
          <a:prstGeom prst="rect">
            <a:avLst/>
          </a:prstGeom>
          <a:solidFill>
            <a:srgbClr val="C9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0826496" y="2779776"/>
            <a:ext cx="402336" cy="603504"/>
          </a:xfrm>
          <a:prstGeom prst="rect">
            <a:avLst/>
          </a:prstGeom>
          <a:solidFill>
            <a:srgbClr val="C9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9253728" y="3613709"/>
            <a:ext cx="402336" cy="603504"/>
          </a:xfrm>
          <a:prstGeom prst="rect">
            <a:avLst/>
          </a:prstGeom>
          <a:solidFill>
            <a:srgbClr val="C9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0040112" y="3613709"/>
            <a:ext cx="402336" cy="603504"/>
          </a:xfrm>
          <a:prstGeom prst="rect">
            <a:avLst/>
          </a:prstGeom>
          <a:solidFill>
            <a:srgbClr val="C9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0826496" y="3613709"/>
            <a:ext cx="402336" cy="603504"/>
          </a:xfrm>
          <a:prstGeom prst="rect">
            <a:avLst/>
          </a:prstGeom>
          <a:solidFill>
            <a:srgbClr val="C9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960120" y="960120"/>
            <a:ext cx="914400" cy="914400"/>
          </a:xfrm>
          <a:prstGeom prst="ellipse">
            <a:avLst/>
          </a:prstGeom>
          <a:solidFill>
            <a:srgbClr val="C9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234440" y="1165860"/>
            <a:ext cx="365760" cy="365760"/>
          </a:xfrm>
          <a:prstGeom prst="ellipse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 rot="10800000">
            <a:off x="1335024" y="1485900"/>
            <a:ext cx="164592" cy="18288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48640" y="2331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BUSINESS PROCESS AND ERP SYSTEMS — GROUP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48640" y="2697480"/>
            <a:ext cx="9601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Grand Horizon Hotel ERP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48640" y="370332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EB9CC"/>
                </a:solidFill>
                <a:latin typeface="Calibri"/>
                <a:ea typeface="Calibri"/>
                <a:cs typeface="Calibri"/>
                <a:sym typeface="Calibri"/>
              </a:rPr>
              <a:t>An integrated system unifying reservations, rooms, guests, billing, inventory and HR around one shared database.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PROJECT TEAM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48640" y="477316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Cooray, BSST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48640" y="506577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Gunathilaka, RRPH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48640" y="53583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Kukarakshan, 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548640" y="565099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Madarasingha, TR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48640" y="59436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Muhammed, AT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4754880" y="477316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Nandhatilaka, NHS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4754880" y="506577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Panditharathna, Keshan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4754880" y="53583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Rejishanth, 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754880" y="565099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Umayanga, MKKC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754880" y="59436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Gunarathne, KADRS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48640" y="17373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4CE95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417320" y="1719072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Business Context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417320" y="2066544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The hospitality challenge we're solving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48640" y="278892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4CE95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417320" y="2770632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Stakeholders &amp; Pre-ERP Challenges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417320" y="3118104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Who's involved, what was broken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48640" y="38404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4CE95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417320" y="3822192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Our Solution &amp; Architecture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417320" y="4169664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How the system is designed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48640" y="489204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4CE95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417320" y="4873752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Database Design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417320" y="5221224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The shared data model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263640" y="17373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4CE95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132320" y="1719072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Eight Core Modules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7132320" y="2066544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Reservations through Reports, one slide each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263640" y="278892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4CE95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132320" y="2770632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Process Integration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7132320" y="3118104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How checkout ties every module together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263640" y="38404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4CE95"/>
                </a:solidFill>
                <a:latin typeface="Cambria"/>
                <a:ea typeface="Cambria"/>
                <a:cs typeface="Cambria"/>
                <a:sym typeface="Cambria"/>
              </a:rPr>
              <a:t>07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132320" y="3822192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Azure Deployment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7132320" y="4169664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Live cloud architecture &amp; CI/CD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263640" y="489204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4CE95"/>
                </a:solidFill>
                <a:latin typeface="Cambria"/>
                <a:ea typeface="Cambria"/>
                <a:cs typeface="Cambria"/>
                <a:sym typeface="Cambria"/>
              </a:rPr>
              <a:t>08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7132320" y="4873752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Team &amp; Conclusion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7132320" y="5221224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Ownership map and closing takeaways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BUSINESS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48640" y="658368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The Hospitality Challenge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48640" y="1417320"/>
            <a:ext cx="5029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 mid-sized independent hotel — “Grand Horizon Hotel” — runs on five interlocking processes. Today they operate as disconnected manual workflows across different staff and tools.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153912" y="1417320"/>
            <a:ext cx="585216" cy="5852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6329477" y="1548994"/>
            <a:ext cx="234086" cy="234086"/>
          </a:xfrm>
          <a:prstGeom prst="ellipse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 rot="10800000">
            <a:off x="6393851" y="1753819"/>
            <a:ext cx="105339" cy="117043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903720" y="141732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Reservation-to-Stay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903720" y="1728216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Booking, room hold, check-in, occupancy, check-out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153912" y="2359152"/>
            <a:ext cx="585216" cy="5852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6285586" y="2637130"/>
            <a:ext cx="321869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285586" y="2549347"/>
            <a:ext cx="102413" cy="1024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6903720" y="235915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Room &amp; Housekeeping Operations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903720" y="2670048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Available → Occupied → Cleaning → Available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153912" y="3300984"/>
            <a:ext cx="585216" cy="5852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6382146" y="3432658"/>
            <a:ext cx="128748" cy="1287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6329477" y="3578962"/>
            <a:ext cx="234086" cy="234086"/>
          </a:xfrm>
          <a:prstGeom prst="arc">
            <a:avLst>
              <a:gd fmla="val 10800000" name="adj1"/>
              <a:gd fmla="val 2160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6903720" y="3300984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Guest Relationship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903720" y="361188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Profiles, stay history, loyalty tracking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153912" y="4242816"/>
            <a:ext cx="585216" cy="5852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6314846" y="4418381"/>
            <a:ext cx="263347" cy="219456"/>
          </a:xfrm>
          <a:prstGeom prst="rect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" name="Google Shape;98;p5"/>
          <p:cNvCxnSpPr/>
          <p:nvPr/>
        </p:nvCxnSpPr>
        <p:spPr>
          <a:xfrm>
            <a:off x="6314846" y="4520794"/>
            <a:ext cx="263347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5"/>
          <p:cNvSpPr/>
          <p:nvPr/>
        </p:nvSpPr>
        <p:spPr>
          <a:xfrm>
            <a:off x="6903720" y="4242816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Procure-to-Pay (Supply Chain)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903720" y="4553712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Monitor stock, reorder, receive, pay suppliers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153912" y="5184648"/>
            <a:ext cx="585216" cy="5852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6300216" y="5383621"/>
            <a:ext cx="292608" cy="187269"/>
          </a:xfrm>
          <a:prstGeom prst="rect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6408481" y="5439217"/>
            <a:ext cx="76078" cy="76078"/>
          </a:xfrm>
          <a:prstGeom prst="ellipse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6903720" y="518464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Order-to-Cash (Billing/Finance)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903720" y="5495544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Consolidate charges, invoice, collect payment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BUSINESS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Key Stakeholders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48640" y="1508760"/>
            <a:ext cx="2670048" cy="1965960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749808" y="1709928"/>
            <a:ext cx="512064" cy="51206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949513" y="1825142"/>
            <a:ext cx="112654" cy="11265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903427" y="1953158"/>
            <a:ext cx="204826" cy="204826"/>
          </a:xfrm>
          <a:prstGeom prst="arc">
            <a:avLst>
              <a:gd fmla="val 10800000" name="adj1"/>
              <a:gd fmla="val 2160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749808" y="2313432"/>
            <a:ext cx="2267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Front Desk Staff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749808" y="2715768"/>
            <a:ext cx="2267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Create/modify reservations, check guests in/out, answer billing queries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3383280" y="1508760"/>
            <a:ext cx="2670048" cy="1965960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3584448" y="1709928"/>
            <a:ext cx="512064" cy="51206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3699662" y="1953158"/>
            <a:ext cx="281635" cy="128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3699662" y="1876349"/>
            <a:ext cx="89611" cy="896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3584448" y="2313432"/>
            <a:ext cx="2267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Housekeeping Staff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584448" y="2715768"/>
            <a:ext cx="2267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Update room cleanliness status, flag maintenance issues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6217920" y="1508760"/>
            <a:ext cx="2670048" cy="1965960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419088" y="1709928"/>
            <a:ext cx="512064" cy="51206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6547104" y="1884030"/>
            <a:ext cx="256032" cy="163860"/>
          </a:xfrm>
          <a:prstGeom prst="rect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641836" y="1932676"/>
            <a:ext cx="66568" cy="66568"/>
          </a:xfrm>
          <a:prstGeom prst="ellipse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6419088" y="2313432"/>
            <a:ext cx="2267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Finance / Accounts Staff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419088" y="2715768"/>
            <a:ext cx="2267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Issue invoices, record payments, manage supplier purchase orders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9052560" y="1508760"/>
            <a:ext cx="2670048" cy="1965960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9253728" y="1709928"/>
            <a:ext cx="512064" cy="51206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9368942" y="2010766"/>
            <a:ext cx="56327" cy="704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9445752" y="1972361"/>
            <a:ext cx="56327" cy="1088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9522562" y="2036369"/>
            <a:ext cx="56327" cy="448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9599371" y="1946758"/>
            <a:ext cx="56327" cy="1344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9253728" y="2313432"/>
            <a:ext cx="2267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Operations Manager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9253728" y="2715768"/>
            <a:ext cx="2267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Oversee occupancy, revenue, staffing and supplier relationships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48640" y="3657600"/>
            <a:ext cx="2670048" cy="1965960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749808" y="3858768"/>
            <a:ext cx="512064" cy="51206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903427" y="3973982"/>
            <a:ext cx="204826" cy="204826"/>
          </a:xfrm>
          <a:prstGeom prst="ellipse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 rot="10800000">
            <a:off x="959754" y="4153205"/>
            <a:ext cx="92172" cy="102413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749808" y="4462272"/>
            <a:ext cx="2267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Hotel Guests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749808" y="4864608"/>
            <a:ext cx="2267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Book rooms; expect accurate billing and personalised service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3383280" y="3657600"/>
            <a:ext cx="2670048" cy="1965960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3584448" y="3858768"/>
            <a:ext cx="512064" cy="51206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3725266" y="4012387"/>
            <a:ext cx="230429" cy="192024"/>
          </a:xfrm>
          <a:prstGeom prst="rect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" name="Google Shape;149;p6"/>
          <p:cNvCxnSpPr/>
          <p:nvPr/>
        </p:nvCxnSpPr>
        <p:spPr>
          <a:xfrm>
            <a:off x="3725266" y="4101998"/>
            <a:ext cx="230429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6"/>
          <p:cNvSpPr/>
          <p:nvPr/>
        </p:nvSpPr>
        <p:spPr>
          <a:xfrm>
            <a:off x="3584448" y="4462272"/>
            <a:ext cx="2267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Suppliers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584448" y="4864608"/>
            <a:ext cx="2267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Provide linen, minibar stock, cleaning supplies; expect accurate POs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217920" y="3657600"/>
            <a:ext cx="2670048" cy="1965960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6419088" y="3858768"/>
            <a:ext cx="512064" cy="51206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6559906" y="4087917"/>
            <a:ext cx="230429" cy="1523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601383" y="3980383"/>
            <a:ext cx="147474" cy="147474"/>
          </a:xfrm>
          <a:prstGeom prst="arc">
            <a:avLst>
              <a:gd fmla="val 10800000" name="adj1"/>
              <a:gd fmla="val 21600000" name="adj2"/>
            </a:avLst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6419088" y="4462272"/>
            <a:ext cx="2267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IT / System Administrator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419088" y="4864608"/>
            <a:ext cx="2267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Manage user accounts, access control, and system uptime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D33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BUSINESS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Challenges of Siloed Operations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9CC"/>
                </a:solidFill>
                <a:latin typeface="Calibri"/>
                <a:ea typeface="Calibri"/>
                <a:cs typeface="Calibri"/>
                <a:sym typeface="Calibri"/>
              </a:rPr>
              <a:t>How Grand Horizon runs today — before an integrated ERP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548640" y="1965960"/>
            <a:ext cx="3566160" cy="1920240"/>
          </a:xfrm>
          <a:prstGeom prst="rect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749808" y="213055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C9A15A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749808" y="2514600"/>
            <a:ext cx="31638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Information Silos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749808" y="2926080"/>
            <a:ext cx="31638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CE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7CEDB"/>
                </a:solidFill>
                <a:latin typeface="Calibri"/>
                <a:ea typeface="Calibri"/>
                <a:cs typeface="Calibri"/>
                <a:sym typeface="Calibri"/>
              </a:rPr>
              <a:t>Reservations, housekeeping and billing are tracked separately and rarely agree — causing double-bookings.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315968" y="1965960"/>
            <a:ext cx="3566160" cy="1920240"/>
          </a:xfrm>
          <a:prstGeom prst="rect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517136" y="213055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C9A15A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517136" y="2514600"/>
            <a:ext cx="31638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Single Guest History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517136" y="2926080"/>
            <a:ext cx="31638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CE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7CEDB"/>
                </a:solidFill>
                <a:latin typeface="Calibri"/>
                <a:ea typeface="Calibri"/>
                <a:cs typeface="Calibri"/>
                <a:sym typeface="Calibri"/>
              </a:rPr>
              <a:t>A returning guest's stays, preferences and loyalty tier aren't visible to whoever is on shift.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8083296" y="1965960"/>
            <a:ext cx="3566160" cy="1920240"/>
          </a:xfrm>
          <a:prstGeom prst="rect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8284464" y="213055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C9A15A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8284464" y="2514600"/>
            <a:ext cx="31638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Stock Tracking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8284464" y="2926080"/>
            <a:ext cx="31638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CE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7CEDB"/>
                </a:solidFill>
                <a:latin typeface="Calibri"/>
                <a:ea typeface="Calibri"/>
                <a:cs typeface="Calibri"/>
                <a:sym typeface="Calibri"/>
              </a:rPr>
              <a:t>Minibar and housekeeping supplies are counted by hand; stock-outs are found too late.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48640" y="4114800"/>
            <a:ext cx="3566160" cy="1920240"/>
          </a:xfrm>
          <a:prstGeom prst="rect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749808" y="427939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C9A15A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749808" y="4663440"/>
            <a:ext cx="31638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Delayed, Error-Prone Billing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749808" y="5074920"/>
            <a:ext cx="31638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CE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7CEDB"/>
                </a:solidFill>
                <a:latin typeface="Calibri"/>
                <a:ea typeface="Calibri"/>
                <a:cs typeface="Calibri"/>
                <a:sym typeface="Calibri"/>
              </a:rPr>
              <a:t>Charges from multiple sources must be reconciled manually at checkout.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315968" y="4114800"/>
            <a:ext cx="3566160" cy="1920240"/>
          </a:xfrm>
          <a:prstGeom prst="rect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4517136" y="427939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C9A15A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517136" y="4663440"/>
            <a:ext cx="31638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Audit Trail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517136" y="5074920"/>
            <a:ext cx="31638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CE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7CEDB"/>
                </a:solidFill>
                <a:latin typeface="Calibri"/>
                <a:ea typeface="Calibri"/>
                <a:cs typeface="Calibri"/>
                <a:sym typeface="Calibri"/>
              </a:rPr>
              <a:t>Hard to answer who changed a booking or approved a purchase order.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8083296" y="4114800"/>
            <a:ext cx="3566160" cy="1920240"/>
          </a:xfrm>
          <a:prstGeom prst="rect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8284464" y="427939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C9A15A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8284464" y="4663440"/>
            <a:ext cx="31638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 Confusion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8284464" y="5074920"/>
            <a:ext cx="31638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CE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7CEDB"/>
                </a:solidFill>
                <a:latin typeface="Calibri"/>
                <a:ea typeface="Calibri"/>
                <a:cs typeface="Calibri"/>
                <a:sym typeface="Calibri"/>
              </a:rPr>
              <a:t>Without access control, any staff member can see or edit any data.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Grand Horizon Hotel ERP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48640" y="13716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One integrated database replacing five disconnected manual processes.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548640" y="1965960"/>
            <a:ext cx="548640" cy="548640"/>
          </a:xfrm>
          <a:prstGeom prst="ellipse">
            <a:avLst/>
          </a:prstGeom>
          <a:solidFill>
            <a:srgbClr val="C9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" name="Google Shape;201;p8"/>
          <p:cNvCxnSpPr/>
          <p:nvPr/>
        </p:nvCxnSpPr>
        <p:spPr>
          <a:xfrm>
            <a:off x="726948" y="2245766"/>
            <a:ext cx="76810" cy="87782"/>
          </a:xfrm>
          <a:prstGeom prst="straightConnector1">
            <a:avLst/>
          </a:prstGeom>
          <a:noFill/>
          <a:ln cap="flat" cmpd="sng" w="330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8"/>
          <p:cNvCxnSpPr/>
          <p:nvPr/>
        </p:nvCxnSpPr>
        <p:spPr>
          <a:xfrm flipH="1" rot="10800000">
            <a:off x="803758" y="2152498"/>
            <a:ext cx="137160" cy="181051"/>
          </a:xfrm>
          <a:prstGeom prst="straightConnector1">
            <a:avLst/>
          </a:prstGeom>
          <a:noFill/>
          <a:ln cap="flat" cmpd="sng" w="330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8"/>
          <p:cNvSpPr/>
          <p:nvPr/>
        </p:nvSpPr>
        <p:spPr>
          <a:xfrm>
            <a:off x="1234440" y="1911096"/>
            <a:ext cx="4709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Centralise reservations, rooms, guests, billing and inventory in one shared database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548640" y="3136392"/>
            <a:ext cx="548640" cy="548640"/>
          </a:xfrm>
          <a:prstGeom prst="ellipse">
            <a:avLst/>
          </a:prstGeom>
          <a:solidFill>
            <a:srgbClr val="C9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5" name="Google Shape;205;p8"/>
          <p:cNvCxnSpPr/>
          <p:nvPr/>
        </p:nvCxnSpPr>
        <p:spPr>
          <a:xfrm>
            <a:off x="726948" y="3416198"/>
            <a:ext cx="76810" cy="87782"/>
          </a:xfrm>
          <a:prstGeom prst="straightConnector1">
            <a:avLst/>
          </a:prstGeom>
          <a:noFill/>
          <a:ln cap="flat" cmpd="sng" w="330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8"/>
          <p:cNvCxnSpPr/>
          <p:nvPr/>
        </p:nvCxnSpPr>
        <p:spPr>
          <a:xfrm flipH="1" rot="10800000">
            <a:off x="803758" y="3322930"/>
            <a:ext cx="137160" cy="181051"/>
          </a:xfrm>
          <a:prstGeom prst="straightConnector1">
            <a:avLst/>
          </a:prstGeom>
          <a:noFill/>
          <a:ln cap="flat" cmpd="sng" w="330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8"/>
          <p:cNvSpPr/>
          <p:nvPr/>
        </p:nvSpPr>
        <p:spPr>
          <a:xfrm>
            <a:off x="1234440" y="3081528"/>
            <a:ext cx="4709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Automate the room status lifecycle so front desk and housekeeping always agree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48640" y="4306824"/>
            <a:ext cx="548640" cy="548640"/>
          </a:xfrm>
          <a:prstGeom prst="ellipse">
            <a:avLst/>
          </a:prstGeom>
          <a:solidFill>
            <a:srgbClr val="C9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9" name="Google Shape;209;p8"/>
          <p:cNvCxnSpPr/>
          <p:nvPr/>
        </p:nvCxnSpPr>
        <p:spPr>
          <a:xfrm>
            <a:off x="726948" y="4586630"/>
            <a:ext cx="76810" cy="87782"/>
          </a:xfrm>
          <a:prstGeom prst="straightConnector1">
            <a:avLst/>
          </a:prstGeom>
          <a:noFill/>
          <a:ln cap="flat" cmpd="sng" w="330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8"/>
          <p:cNvCxnSpPr/>
          <p:nvPr/>
        </p:nvCxnSpPr>
        <p:spPr>
          <a:xfrm flipH="1" rot="10800000">
            <a:off x="803758" y="4493362"/>
            <a:ext cx="137160" cy="181051"/>
          </a:xfrm>
          <a:prstGeom prst="straightConnector1">
            <a:avLst/>
          </a:prstGeom>
          <a:noFill/>
          <a:ln cap="flat" cmpd="sng" w="330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8"/>
          <p:cNvSpPr/>
          <p:nvPr/>
        </p:nvSpPr>
        <p:spPr>
          <a:xfrm>
            <a:off x="1234440" y="4251960"/>
            <a:ext cx="4709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Give every staff member role-based access to only the modules relevant to their job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6126480" y="1965960"/>
            <a:ext cx="548640" cy="548640"/>
          </a:xfrm>
          <a:prstGeom prst="ellipse">
            <a:avLst/>
          </a:prstGeom>
          <a:solidFill>
            <a:srgbClr val="C9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" name="Google Shape;213;p8"/>
          <p:cNvCxnSpPr/>
          <p:nvPr/>
        </p:nvCxnSpPr>
        <p:spPr>
          <a:xfrm>
            <a:off x="6304788" y="2245766"/>
            <a:ext cx="76810" cy="87782"/>
          </a:xfrm>
          <a:prstGeom prst="straightConnector1">
            <a:avLst/>
          </a:prstGeom>
          <a:noFill/>
          <a:ln cap="flat" cmpd="sng" w="330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8"/>
          <p:cNvCxnSpPr/>
          <p:nvPr/>
        </p:nvCxnSpPr>
        <p:spPr>
          <a:xfrm flipH="1" rot="10800000">
            <a:off x="6381598" y="2152498"/>
            <a:ext cx="137160" cy="181051"/>
          </a:xfrm>
          <a:prstGeom prst="straightConnector1">
            <a:avLst/>
          </a:prstGeom>
          <a:noFill/>
          <a:ln cap="flat" cmpd="sng" w="330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8"/>
          <p:cNvSpPr/>
          <p:nvPr/>
        </p:nvSpPr>
        <p:spPr>
          <a:xfrm>
            <a:off x="6812280" y="1911096"/>
            <a:ext cx="4709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Trigger low-stock alerts and purchase orders automatically from real consumption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126480" y="3136392"/>
            <a:ext cx="548640" cy="548640"/>
          </a:xfrm>
          <a:prstGeom prst="ellipse">
            <a:avLst/>
          </a:prstGeom>
          <a:solidFill>
            <a:srgbClr val="C9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" name="Google Shape;217;p8"/>
          <p:cNvCxnSpPr/>
          <p:nvPr/>
        </p:nvCxnSpPr>
        <p:spPr>
          <a:xfrm>
            <a:off x="6304788" y="3416198"/>
            <a:ext cx="76810" cy="87782"/>
          </a:xfrm>
          <a:prstGeom prst="straightConnector1">
            <a:avLst/>
          </a:prstGeom>
          <a:noFill/>
          <a:ln cap="flat" cmpd="sng" w="330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8"/>
          <p:cNvCxnSpPr/>
          <p:nvPr/>
        </p:nvCxnSpPr>
        <p:spPr>
          <a:xfrm flipH="1" rot="10800000">
            <a:off x="6381598" y="3322930"/>
            <a:ext cx="137160" cy="181051"/>
          </a:xfrm>
          <a:prstGeom prst="straightConnector1">
            <a:avLst/>
          </a:prstGeom>
          <a:noFill/>
          <a:ln cap="flat" cmpd="sng" w="330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8"/>
          <p:cNvSpPr/>
          <p:nvPr/>
        </p:nvSpPr>
        <p:spPr>
          <a:xfrm>
            <a:off x="6812280" y="3081528"/>
            <a:ext cx="4709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Generate invoices automatically from the reservation and any extra charges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126480" y="4306824"/>
            <a:ext cx="548640" cy="548640"/>
          </a:xfrm>
          <a:prstGeom prst="ellipse">
            <a:avLst/>
          </a:prstGeom>
          <a:solidFill>
            <a:srgbClr val="C9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1" name="Google Shape;221;p8"/>
          <p:cNvCxnSpPr/>
          <p:nvPr/>
        </p:nvCxnSpPr>
        <p:spPr>
          <a:xfrm>
            <a:off x="6304788" y="4586630"/>
            <a:ext cx="76810" cy="87782"/>
          </a:xfrm>
          <a:prstGeom prst="straightConnector1">
            <a:avLst/>
          </a:prstGeom>
          <a:noFill/>
          <a:ln cap="flat" cmpd="sng" w="330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8"/>
          <p:cNvCxnSpPr/>
          <p:nvPr/>
        </p:nvCxnSpPr>
        <p:spPr>
          <a:xfrm flipH="1" rot="10800000">
            <a:off x="6381598" y="4493362"/>
            <a:ext cx="137160" cy="181051"/>
          </a:xfrm>
          <a:prstGeom prst="straightConnector1">
            <a:avLst/>
          </a:prstGeom>
          <a:noFill/>
          <a:ln cap="flat" cmpd="sng" w="330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8"/>
          <p:cNvSpPr/>
          <p:nvPr/>
        </p:nvSpPr>
        <p:spPr>
          <a:xfrm>
            <a:off x="6812280" y="4251960"/>
            <a:ext cx="4709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Maintain a system-wide audit log for accountability and issue investigation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System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548640" y="1417320"/>
            <a:ext cx="7863840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868680" y="1508760"/>
            <a:ext cx="7223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4CE95"/>
                </a:solidFill>
                <a:latin typeface="Calibri"/>
                <a:ea typeface="Calibri"/>
                <a:cs typeface="Calibri"/>
                <a:sym typeface="Calibri"/>
              </a:rPr>
              <a:t>Presentation Layer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868680" y="187452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HTML5 · CSS3 · Bootstrap 5 — role-aware navigation (header, sidebar, footer)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 rot="10800000">
            <a:off x="4370832" y="2404872"/>
            <a:ext cx="219456" cy="201168"/>
          </a:xfrm>
          <a:prstGeom prst="triangle">
            <a:avLst>
              <a:gd fmla="val 50000" name="adj"/>
            </a:avLst>
          </a:prstGeom>
          <a:solidFill>
            <a:srgbClr val="5B64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548640" y="2697480"/>
            <a:ext cx="7863840" cy="960120"/>
          </a:xfrm>
          <a:prstGeom prst="rect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868680" y="2788920"/>
            <a:ext cx="7223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4CE95"/>
                </a:solidFill>
                <a:latin typeface="Calibri"/>
                <a:ea typeface="Calibri"/>
                <a:cs typeface="Calibri"/>
                <a:sym typeface="Calibri"/>
              </a:rPr>
              <a:t>Business Logic Layer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868680" y="315468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PHP 8 modules — validation, workflow rules, role-based access control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 rot="10800000">
            <a:off x="4370832" y="3685032"/>
            <a:ext cx="219456" cy="201168"/>
          </a:xfrm>
          <a:prstGeom prst="triangle">
            <a:avLst>
              <a:gd fmla="val 50000" name="adj"/>
            </a:avLst>
          </a:prstGeom>
          <a:solidFill>
            <a:srgbClr val="5B64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548640" y="3977640"/>
            <a:ext cx="7863840" cy="960120"/>
          </a:xfrm>
          <a:prstGeom prst="rect">
            <a:avLst/>
          </a:prstGeom>
          <a:solidFill>
            <a:srgbClr val="121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868680" y="4069080"/>
            <a:ext cx="7223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4CE95"/>
                </a:solidFill>
                <a:latin typeface="Calibri"/>
                <a:ea typeface="Calibri"/>
                <a:cs typeface="Calibri"/>
                <a:sym typeface="Calibri"/>
              </a:rPr>
              <a:t>Data Layer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868680" y="443484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PDO → Azure SQL Database — one shared schema for every module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8778240" y="141732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8778240" y="1783080"/>
            <a:ext cx="2834640" cy="402336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8915400" y="1819656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PHP 8 (PDO)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8778240" y="2313432"/>
            <a:ext cx="2834640" cy="402336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8915400" y="235000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HTML5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8778240" y="2843784"/>
            <a:ext cx="2834640" cy="402336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8915400" y="288036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CSS3 + Bootstrap 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8778240" y="3374136"/>
            <a:ext cx="2834640" cy="402336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8915400" y="3410712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Azure SQL Database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8778240" y="3904488"/>
            <a:ext cx="2834640" cy="402336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8915400" y="3941064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MySQL (local dev fallback)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548640" y="489204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Same PHP codebase runs unmodified in both environments — config/db.php auto-detects the available PDO driver.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Database Design — Shared Schema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One database, four functional clusters — every module reads and writes the same tables.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548640" y="1965960"/>
            <a:ext cx="2606040" cy="3246120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548640" y="1965960"/>
            <a:ext cx="260604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548640" y="2331720"/>
            <a:ext cx="260604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722376" y="2121408"/>
            <a:ext cx="475488" cy="475488"/>
          </a:xfrm>
          <a:prstGeom prst="ellipse">
            <a:avLst/>
          </a:prstGeom>
          <a:solidFill>
            <a:srgbClr val="C9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863834" y="2336685"/>
            <a:ext cx="192573" cy="127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898497" y="2246818"/>
            <a:ext cx="123246" cy="123246"/>
          </a:xfrm>
          <a:prstGeom prst="arc">
            <a:avLst>
              <a:gd fmla="val 10800000" name="adj1"/>
              <a:gd fmla="val 21600000" name="adj2"/>
            </a:avLst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1325880" y="2130552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Security, Access &amp; HR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804672" y="3017520"/>
            <a:ext cx="82296" cy="822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987552" y="292608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Roles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804672" y="3520440"/>
            <a:ext cx="82296" cy="822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987552" y="342900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804672" y="4023360"/>
            <a:ext cx="82296" cy="822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987552" y="393192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AuditLog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804672" y="4526280"/>
            <a:ext cx="82296" cy="822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987552" y="443484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Employees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3429000" y="1965960"/>
            <a:ext cx="2606040" cy="3246120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3429000" y="1965960"/>
            <a:ext cx="2606040" cy="777240"/>
          </a:xfrm>
          <a:prstGeom prst="rect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3429000" y="2331720"/>
            <a:ext cx="2606040" cy="411480"/>
          </a:xfrm>
          <a:prstGeom prst="rect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3602736" y="2121408"/>
            <a:ext cx="475488" cy="475488"/>
          </a:xfrm>
          <a:prstGeom prst="ellipse">
            <a:avLst/>
          </a:prstGeom>
          <a:solidFill>
            <a:srgbClr val="C9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3754892" y="2241469"/>
            <a:ext cx="171176" cy="171176"/>
          </a:xfrm>
          <a:prstGeom prst="ellipse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 rot="10800000">
            <a:off x="3801965" y="2391247"/>
            <a:ext cx="77029" cy="85588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4206240" y="2130552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Reservations &amp; Rooms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3685032" y="3017520"/>
            <a:ext cx="82296" cy="82296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3867912" y="292608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Reservations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3685032" y="3520440"/>
            <a:ext cx="82296" cy="82296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3867912" y="342900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Guests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3685032" y="4023360"/>
            <a:ext cx="82296" cy="82296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3867912" y="393192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Rooms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3685032" y="4526280"/>
            <a:ext cx="82296" cy="82296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3867912" y="443484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RoomTypes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6309360" y="1965960"/>
            <a:ext cx="2606040" cy="3246120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6309360" y="1965960"/>
            <a:ext cx="260604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6309360" y="2331720"/>
            <a:ext cx="260604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6483096" y="2121408"/>
            <a:ext cx="475488" cy="475488"/>
          </a:xfrm>
          <a:prstGeom prst="ellipse">
            <a:avLst/>
          </a:prstGeom>
          <a:solidFill>
            <a:srgbClr val="C9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6613855" y="2290682"/>
            <a:ext cx="213970" cy="136941"/>
          </a:xfrm>
          <a:prstGeom prst="rect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6693024" y="2331336"/>
            <a:ext cx="55632" cy="55632"/>
          </a:xfrm>
          <a:prstGeom prst="ellipse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7086600" y="2130552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Billing &amp; Finance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6565392" y="3017520"/>
            <a:ext cx="82296" cy="822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6748272" y="292608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Invoices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6565392" y="3520440"/>
            <a:ext cx="82296" cy="822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6748272" y="342900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InvoiceItems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6565392" y="4023360"/>
            <a:ext cx="82296" cy="822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6748272" y="393192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Payments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9189720" y="1965960"/>
            <a:ext cx="2606040" cy="3246120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9189720" y="1965960"/>
            <a:ext cx="2606040" cy="777240"/>
          </a:xfrm>
          <a:prstGeom prst="rect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9189720" y="2331720"/>
            <a:ext cx="2606040" cy="411480"/>
          </a:xfrm>
          <a:prstGeom prst="rect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9363456" y="2121408"/>
            <a:ext cx="475488" cy="475488"/>
          </a:xfrm>
          <a:prstGeom prst="ellipse">
            <a:avLst/>
          </a:prstGeom>
          <a:solidFill>
            <a:srgbClr val="C9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9504914" y="2273564"/>
            <a:ext cx="192573" cy="160477"/>
          </a:xfrm>
          <a:prstGeom prst="rect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2" name="Google Shape;312;p10"/>
          <p:cNvCxnSpPr/>
          <p:nvPr/>
        </p:nvCxnSpPr>
        <p:spPr>
          <a:xfrm>
            <a:off x="9504914" y="2348454"/>
            <a:ext cx="192573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10"/>
          <p:cNvSpPr/>
          <p:nvPr/>
        </p:nvSpPr>
        <p:spPr>
          <a:xfrm>
            <a:off x="9966960" y="2130552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Procurement &amp; Inventory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9445752" y="3017520"/>
            <a:ext cx="82296" cy="82296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9628632" y="292608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Suppliers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9445752" y="3520440"/>
            <a:ext cx="82296" cy="82296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9628632" y="342900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PurchaseOrders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9445752" y="4023360"/>
            <a:ext cx="82296" cy="82296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9628632" y="393192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PurchaseOrderItems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9445752" y="4526280"/>
            <a:ext cx="82296" cy="82296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9628632" y="443484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InventoryItems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10"/>
          <p:cNvCxnSpPr/>
          <p:nvPr/>
        </p:nvCxnSpPr>
        <p:spPr>
          <a:xfrm>
            <a:off x="6071616" y="3657600"/>
            <a:ext cx="201168" cy="0"/>
          </a:xfrm>
          <a:prstGeom prst="straightConnector1">
            <a:avLst/>
          </a:prstGeom>
          <a:noFill/>
          <a:ln cap="flat" cmpd="sng" w="31750">
            <a:solidFill>
              <a:srgbClr val="C9A15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3" name="Google Shape;323;p10"/>
          <p:cNvSpPr/>
          <p:nvPr/>
        </p:nvSpPr>
        <p:spPr>
          <a:xfrm>
            <a:off x="5532120" y="327355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850"/>
              <a:buFont typeface="Calibri"/>
              <a:buNone/>
            </a:pPr>
            <a:r>
              <a:rPr b="1" i="1" lang="en-US" sz="85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checkout creates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4" name="Google Shape;324;p10"/>
          <p:cNvCxnSpPr/>
          <p:nvPr/>
        </p:nvCxnSpPr>
        <p:spPr>
          <a:xfrm>
            <a:off x="8951976" y="3657600"/>
            <a:ext cx="201168" cy="0"/>
          </a:xfrm>
          <a:prstGeom prst="straightConnector1">
            <a:avLst/>
          </a:prstGeom>
          <a:noFill/>
          <a:ln cap="flat" cmpd="sng" w="31750">
            <a:solidFill>
              <a:srgbClr val="C9A15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5" name="Google Shape;325;p10"/>
          <p:cNvSpPr/>
          <p:nvPr/>
        </p:nvSpPr>
        <p:spPr>
          <a:xfrm>
            <a:off x="8412480" y="327355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850"/>
              <a:buFont typeface="Calibri"/>
              <a:buNone/>
            </a:pPr>
            <a:r>
              <a:rPr b="1" i="1" lang="en-US" sz="85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billed items decrement stock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548640" y="5486400"/>
            <a:ext cx="11247120" cy="822960"/>
          </a:xfrm>
          <a:prstGeom prst="rect">
            <a:avLst/>
          </a:prstGeom>
          <a:solidFill>
            <a:srgbClr val="121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777240" y="54864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integration points:  InvoiceItems.ItemID ties Billing to the exact InventoryItems row it consumes  ·  PurchaseOrderItems.ItemID closes the loop by restocking that same table  ·  every write is logged to AuditLog.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CORE MODULE 1 OF 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548640" y="658368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Authentication &amp; Security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10378440" y="548640"/>
            <a:ext cx="1005840" cy="10058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10655046" y="998753"/>
            <a:ext cx="452628" cy="2992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10736519" y="787527"/>
            <a:ext cx="289682" cy="289682"/>
          </a:xfrm>
          <a:prstGeom prst="arc">
            <a:avLst>
              <a:gd fmla="val 10800000" name="adj1"/>
              <a:gd fmla="val 21600000" name="adj2"/>
            </a:avLst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548640" y="1600200"/>
            <a:ext cx="4709160" cy="4434840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822960" y="18288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841248" y="2267712"/>
            <a:ext cx="73152" cy="7315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1024128" y="217627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index.php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841248" y="2651760"/>
            <a:ext cx="73152" cy="7315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"/>
          <p:cNvSpPr/>
          <p:nvPr/>
        </p:nvSpPr>
        <p:spPr>
          <a:xfrm>
            <a:off x="1024128" y="25603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login.php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841248" y="3035808"/>
            <a:ext cx="73152" cy="7315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1024128" y="294436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logout.php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841248" y="3419856"/>
            <a:ext cx="73152" cy="7315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1"/>
          <p:cNvSpPr/>
          <p:nvPr/>
        </p:nvSpPr>
        <p:spPr>
          <a:xfrm>
            <a:off x="1024128" y="3328416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includes/auth.php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5532120" y="160020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0" name="Google Shape;350;p11"/>
          <p:cNvCxnSpPr/>
          <p:nvPr/>
        </p:nvCxnSpPr>
        <p:spPr>
          <a:xfrm>
            <a:off x="5680710" y="183337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" name="Google Shape;351;p11"/>
          <p:cNvCxnSpPr/>
          <p:nvPr/>
        </p:nvCxnSpPr>
        <p:spPr>
          <a:xfrm flipH="1" rot="10800000">
            <a:off x="5744718" y="175564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11"/>
          <p:cNvSpPr/>
          <p:nvPr/>
        </p:nvSpPr>
        <p:spPr>
          <a:xfrm>
            <a:off x="6126480" y="156362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Session-Based Login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6126480" y="189280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Guarded sessions with bcrypt password hashing — no plaintext passwords anywhere, including seed 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5532120" y="26517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5" name="Google Shape;355;p11"/>
          <p:cNvCxnSpPr/>
          <p:nvPr/>
        </p:nvCxnSpPr>
        <p:spPr>
          <a:xfrm>
            <a:off x="5680710" y="288493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11"/>
          <p:cNvCxnSpPr/>
          <p:nvPr/>
        </p:nvCxnSpPr>
        <p:spPr>
          <a:xfrm flipH="1" rot="10800000">
            <a:off x="5744718" y="280720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" name="Google Shape;357;p11"/>
          <p:cNvSpPr/>
          <p:nvPr/>
        </p:nvSpPr>
        <p:spPr>
          <a:xfrm>
            <a:off x="6126480" y="261518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Role-Based Access Control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6126480" y="294436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includes/auth.php drives which modules and pages each account can reach.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5532120" y="370332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0" name="Google Shape;360;p11"/>
          <p:cNvCxnSpPr/>
          <p:nvPr/>
        </p:nvCxnSpPr>
        <p:spPr>
          <a:xfrm>
            <a:off x="5680710" y="393649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11"/>
          <p:cNvCxnSpPr/>
          <p:nvPr/>
        </p:nvCxnSpPr>
        <p:spPr>
          <a:xfrm flipH="1" rot="10800000">
            <a:off x="5744718" y="385876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11"/>
          <p:cNvSpPr/>
          <p:nvPr/>
        </p:nvSpPr>
        <p:spPr>
          <a:xfrm>
            <a:off x="6126480" y="366674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Five Demo Roles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6126480" y="399592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Admin, Manager, FrontDesk, Housekeeping and Finance — each sees only what's relevant to their job.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CORE MODULE 2 OF 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548640" y="658368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Dashboard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10378440" y="548640"/>
            <a:ext cx="1005840" cy="1005840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10629900" y="850392"/>
            <a:ext cx="502920" cy="402336"/>
          </a:xfrm>
          <a:prstGeom prst="rect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4" name="Google Shape;374;p12"/>
          <p:cNvCxnSpPr/>
          <p:nvPr/>
        </p:nvCxnSpPr>
        <p:spPr>
          <a:xfrm rot="10800000">
            <a:off x="10730484" y="925830"/>
            <a:ext cx="0" cy="176022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12"/>
          <p:cNvCxnSpPr/>
          <p:nvPr/>
        </p:nvCxnSpPr>
        <p:spPr>
          <a:xfrm rot="10800000">
            <a:off x="10881360" y="1001268"/>
            <a:ext cx="0" cy="100584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12"/>
          <p:cNvCxnSpPr/>
          <p:nvPr/>
        </p:nvCxnSpPr>
        <p:spPr>
          <a:xfrm rot="10800000">
            <a:off x="11032236" y="850392"/>
            <a:ext cx="0" cy="25146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12"/>
          <p:cNvSpPr/>
          <p:nvPr/>
        </p:nvSpPr>
        <p:spPr>
          <a:xfrm>
            <a:off x="548640" y="1600200"/>
            <a:ext cx="4709160" cy="4434840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822960" y="18288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841248" y="2267712"/>
            <a:ext cx="73152" cy="73152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1024128" y="217627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dashboard.php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5532120" y="1600200"/>
            <a:ext cx="457200" cy="457200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2" name="Google Shape;382;p12"/>
          <p:cNvCxnSpPr/>
          <p:nvPr/>
        </p:nvCxnSpPr>
        <p:spPr>
          <a:xfrm>
            <a:off x="5680710" y="183337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" name="Google Shape;383;p12"/>
          <p:cNvCxnSpPr/>
          <p:nvPr/>
        </p:nvCxnSpPr>
        <p:spPr>
          <a:xfrm flipH="1" rot="10800000">
            <a:off x="5744718" y="175564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12"/>
          <p:cNvSpPr/>
          <p:nvPr/>
        </p:nvSpPr>
        <p:spPr>
          <a:xfrm>
            <a:off x="6126480" y="156362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Landing Page After Login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6126480" y="189280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The first screen every role sees once authenticated.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5532120" y="2651760"/>
            <a:ext cx="457200" cy="457200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7" name="Google Shape;387;p12"/>
          <p:cNvCxnSpPr/>
          <p:nvPr/>
        </p:nvCxnSpPr>
        <p:spPr>
          <a:xfrm>
            <a:off x="5680710" y="288493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" name="Google Shape;388;p12"/>
          <p:cNvCxnSpPr/>
          <p:nvPr/>
        </p:nvCxnSpPr>
        <p:spPr>
          <a:xfrm flipH="1" rot="10800000">
            <a:off x="5744718" y="280720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" name="Google Shape;389;p12"/>
          <p:cNvSpPr/>
          <p:nvPr/>
        </p:nvSpPr>
        <p:spPr>
          <a:xfrm>
            <a:off x="6126480" y="261518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Cross-Module KPIs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6126480" y="294436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Occupancy, revenue and workflow status pulled live from every module.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5532120" y="3703320"/>
            <a:ext cx="457200" cy="457200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2" name="Google Shape;392;p12"/>
          <p:cNvCxnSpPr/>
          <p:nvPr/>
        </p:nvCxnSpPr>
        <p:spPr>
          <a:xfrm>
            <a:off x="5680710" y="393649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3" name="Google Shape;393;p12"/>
          <p:cNvCxnSpPr/>
          <p:nvPr/>
        </p:nvCxnSpPr>
        <p:spPr>
          <a:xfrm flipH="1" rot="10800000">
            <a:off x="5744718" y="385876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12"/>
          <p:cNvSpPr/>
          <p:nvPr/>
        </p:nvSpPr>
        <p:spPr>
          <a:xfrm>
            <a:off x="6126480" y="366674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Real-Time Operational Snapshot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6126480" y="399592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Gives managers and staff an at-a-glance view without digging through separate pages.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3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CORE MODULE 3 OF 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548640" y="658368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Reservations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10378440" y="548640"/>
            <a:ext cx="1005840" cy="10058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10680192" y="774954"/>
            <a:ext cx="402336" cy="402336"/>
          </a:xfrm>
          <a:prstGeom prst="ellipse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3"/>
          <p:cNvSpPr/>
          <p:nvPr/>
        </p:nvSpPr>
        <p:spPr>
          <a:xfrm rot="10800000">
            <a:off x="10790834" y="1126998"/>
            <a:ext cx="181051" cy="201168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548640" y="1600200"/>
            <a:ext cx="4709160" cy="4434840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822960" y="18288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841248" y="2267712"/>
            <a:ext cx="73152" cy="7315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1024128" y="217627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modules/reservations/list.php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841248" y="2651760"/>
            <a:ext cx="73152" cy="7315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1024128" y="25603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add.php · edit.php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841248" y="3035808"/>
            <a:ext cx="73152" cy="7315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1024128" y="294436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checkin.php · checkout.php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841248" y="3419856"/>
            <a:ext cx="73152" cy="7315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3"/>
          <p:cNvSpPr/>
          <p:nvPr/>
        </p:nvSpPr>
        <p:spPr>
          <a:xfrm>
            <a:off x="1024128" y="3328416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cancel.php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5532120" y="160020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8" name="Google Shape;418;p13"/>
          <p:cNvCxnSpPr/>
          <p:nvPr/>
        </p:nvCxnSpPr>
        <p:spPr>
          <a:xfrm>
            <a:off x="5680710" y="183337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9" name="Google Shape;419;p13"/>
          <p:cNvCxnSpPr/>
          <p:nvPr/>
        </p:nvCxnSpPr>
        <p:spPr>
          <a:xfrm flipH="1" rot="10800000">
            <a:off x="5744718" y="175564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0" name="Google Shape;420;p13"/>
          <p:cNvSpPr/>
          <p:nvPr/>
        </p:nvSpPr>
        <p:spPr>
          <a:xfrm>
            <a:off x="6126480" y="156362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Core Business Process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6126480" y="189280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Booking CRUD covering the full guest journey from enquiry to stay.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5532120" y="26517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3" name="Google Shape;423;p13"/>
          <p:cNvCxnSpPr/>
          <p:nvPr/>
        </p:nvCxnSpPr>
        <p:spPr>
          <a:xfrm>
            <a:off x="5680710" y="288493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4" name="Google Shape;424;p13"/>
          <p:cNvCxnSpPr/>
          <p:nvPr/>
        </p:nvCxnSpPr>
        <p:spPr>
          <a:xfrm flipH="1" rot="10800000">
            <a:off x="5744718" y="280720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p13"/>
          <p:cNvSpPr/>
          <p:nvPr/>
        </p:nvSpPr>
        <p:spPr>
          <a:xfrm>
            <a:off x="6126480" y="261518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Double-Booking Prevention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6126480" y="294436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Validation rules stop a room being sold twice for overlapping dates.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5532120" y="370332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8" name="Google Shape;428;p13"/>
          <p:cNvCxnSpPr/>
          <p:nvPr/>
        </p:nvCxnSpPr>
        <p:spPr>
          <a:xfrm>
            <a:off x="5680710" y="393649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" name="Google Shape;429;p13"/>
          <p:cNvCxnSpPr/>
          <p:nvPr/>
        </p:nvCxnSpPr>
        <p:spPr>
          <a:xfrm flipH="1" rot="10800000">
            <a:off x="5744718" y="385876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p13"/>
          <p:cNvSpPr/>
          <p:nvPr/>
        </p:nvSpPr>
        <p:spPr>
          <a:xfrm>
            <a:off x="6126480" y="366674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Check-In / Check-Out Automation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6126480" y="399592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Workflow actions that cascade updates into Rooms and Billing.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4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CORE MODULE 4 OF 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548640" y="658368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Room Management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10378440" y="548640"/>
            <a:ext cx="1005840" cy="1005840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4"/>
          <p:cNvSpPr/>
          <p:nvPr/>
        </p:nvSpPr>
        <p:spPr>
          <a:xfrm>
            <a:off x="10604754" y="1026414"/>
            <a:ext cx="553212" cy="2514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4"/>
          <p:cNvSpPr/>
          <p:nvPr/>
        </p:nvSpPr>
        <p:spPr>
          <a:xfrm>
            <a:off x="10604754" y="875538"/>
            <a:ext cx="176022" cy="1760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4"/>
          <p:cNvSpPr/>
          <p:nvPr/>
        </p:nvSpPr>
        <p:spPr>
          <a:xfrm>
            <a:off x="548640" y="1600200"/>
            <a:ext cx="4709160" cy="4434840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822960" y="18288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841248" y="2267712"/>
            <a:ext cx="73152" cy="73152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1024128" y="217627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modules/rooms/list.php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841248" y="2651760"/>
            <a:ext cx="73152" cy="73152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4"/>
          <p:cNvSpPr/>
          <p:nvPr/>
        </p:nvSpPr>
        <p:spPr>
          <a:xfrm>
            <a:off x="1024128" y="25603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add.php · edit.php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841248" y="3035808"/>
            <a:ext cx="73152" cy="73152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1024128" y="294436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update-status.php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841248" y="3419856"/>
            <a:ext cx="73152" cy="73152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1024128" y="3328416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types.php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5532120" y="1600200"/>
            <a:ext cx="457200" cy="457200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4" name="Google Shape;454;p14"/>
          <p:cNvCxnSpPr/>
          <p:nvPr/>
        </p:nvCxnSpPr>
        <p:spPr>
          <a:xfrm>
            <a:off x="5680710" y="183337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p14"/>
          <p:cNvCxnSpPr/>
          <p:nvPr/>
        </p:nvCxnSpPr>
        <p:spPr>
          <a:xfrm flipH="1" rot="10800000">
            <a:off x="5744718" y="175564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6" name="Google Shape;456;p14"/>
          <p:cNvSpPr/>
          <p:nvPr/>
        </p:nvSpPr>
        <p:spPr>
          <a:xfrm>
            <a:off x="6126480" y="156362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Room Status Lifecycle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6126480" y="189280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Available → Occupied → Cleaning → Available, enforced in the data model.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5532120" y="2651760"/>
            <a:ext cx="457200" cy="457200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9" name="Google Shape;459;p14"/>
          <p:cNvCxnSpPr/>
          <p:nvPr/>
        </p:nvCxnSpPr>
        <p:spPr>
          <a:xfrm>
            <a:off x="5680710" y="288493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" name="Google Shape;460;p14"/>
          <p:cNvCxnSpPr/>
          <p:nvPr/>
        </p:nvCxnSpPr>
        <p:spPr>
          <a:xfrm flipH="1" rot="10800000">
            <a:off x="5744718" y="280720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1" name="Google Shape;461;p14"/>
          <p:cNvSpPr/>
          <p:nvPr/>
        </p:nvSpPr>
        <p:spPr>
          <a:xfrm>
            <a:off x="6126480" y="261518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Front Desk / Housekeeping Coordination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6126480" y="294436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Both teams see the exact same live status — no whiteboard, no phone calls.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5532120" y="3703320"/>
            <a:ext cx="457200" cy="457200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4" name="Google Shape;464;p14"/>
          <p:cNvCxnSpPr/>
          <p:nvPr/>
        </p:nvCxnSpPr>
        <p:spPr>
          <a:xfrm>
            <a:off x="5680710" y="393649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p14"/>
          <p:cNvCxnSpPr/>
          <p:nvPr/>
        </p:nvCxnSpPr>
        <p:spPr>
          <a:xfrm flipH="1" rot="10800000">
            <a:off x="5744718" y="385876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6" name="Google Shape;466;p14"/>
          <p:cNvSpPr/>
          <p:nvPr/>
        </p:nvSpPr>
        <p:spPr>
          <a:xfrm>
            <a:off x="6126480" y="366674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Never Sold Twice or Dirty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6126480" y="399592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The status machine prevents booking a room that isn't actually ready.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5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CORE MODULE 5 OF 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548640" y="658368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Guest Management (CRM)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10378440" y="548640"/>
            <a:ext cx="1005840" cy="10058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10770718" y="774954"/>
            <a:ext cx="221285" cy="22128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10680192" y="1026414"/>
            <a:ext cx="402336" cy="402336"/>
          </a:xfrm>
          <a:prstGeom prst="arc">
            <a:avLst>
              <a:gd fmla="val 10800000" name="adj1"/>
              <a:gd fmla="val 2160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5"/>
          <p:cNvSpPr/>
          <p:nvPr/>
        </p:nvSpPr>
        <p:spPr>
          <a:xfrm>
            <a:off x="548640" y="1600200"/>
            <a:ext cx="4709160" cy="4434840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822960" y="18288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841248" y="2267712"/>
            <a:ext cx="73152" cy="7315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5"/>
          <p:cNvSpPr/>
          <p:nvPr/>
        </p:nvSpPr>
        <p:spPr>
          <a:xfrm>
            <a:off x="1024128" y="217627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modules/guests/list.php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841248" y="2651760"/>
            <a:ext cx="73152" cy="7315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1024128" y="25603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add.php · edit.php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841248" y="3035808"/>
            <a:ext cx="73152" cy="7315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1024128" y="294436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profile.php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5532120" y="160020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8" name="Google Shape;488;p15"/>
          <p:cNvCxnSpPr/>
          <p:nvPr/>
        </p:nvCxnSpPr>
        <p:spPr>
          <a:xfrm>
            <a:off x="5680710" y="183337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p15"/>
          <p:cNvCxnSpPr/>
          <p:nvPr/>
        </p:nvCxnSpPr>
        <p:spPr>
          <a:xfrm flipH="1" rot="10800000">
            <a:off x="5744718" y="175564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0" name="Google Shape;490;p15"/>
          <p:cNvSpPr/>
          <p:nvPr/>
        </p:nvSpPr>
        <p:spPr>
          <a:xfrm>
            <a:off x="6126480" y="156362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Unified Guest Profile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6126480" y="189280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One record per guest instead of scattered notes across shifts.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5532120" y="26517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3" name="Google Shape;493;p15"/>
          <p:cNvCxnSpPr/>
          <p:nvPr/>
        </p:nvCxnSpPr>
        <p:spPr>
          <a:xfrm>
            <a:off x="5680710" y="288493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4" name="Google Shape;494;p15"/>
          <p:cNvCxnSpPr/>
          <p:nvPr/>
        </p:nvCxnSpPr>
        <p:spPr>
          <a:xfrm flipH="1" rot="10800000">
            <a:off x="5744718" y="280720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5" name="Google Shape;495;p15"/>
          <p:cNvSpPr/>
          <p:nvPr/>
        </p:nvSpPr>
        <p:spPr>
          <a:xfrm>
            <a:off x="6126480" y="261518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Stay History &amp; Lifetime Spend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6126480" y="294436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Every reservation and invoice rolls up automatically into the profile.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5532120" y="370332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8" name="Google Shape;498;p15"/>
          <p:cNvCxnSpPr/>
          <p:nvPr/>
        </p:nvCxnSpPr>
        <p:spPr>
          <a:xfrm>
            <a:off x="5680710" y="393649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15"/>
          <p:cNvCxnSpPr/>
          <p:nvPr/>
        </p:nvCxnSpPr>
        <p:spPr>
          <a:xfrm flipH="1" rot="10800000">
            <a:off x="5744718" y="385876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" name="Google Shape;500;p15"/>
          <p:cNvSpPr/>
          <p:nvPr/>
        </p:nvSpPr>
        <p:spPr>
          <a:xfrm>
            <a:off x="6126480" y="366674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Loyalty Tier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5"/>
          <p:cNvSpPr/>
          <p:nvPr/>
        </p:nvSpPr>
        <p:spPr>
          <a:xfrm>
            <a:off x="6126480" y="399592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Enables recognition and personalised service for repeat guests.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6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CORE MODULE 6 OF 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548640" y="658368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Inventory &amp; Supply Chain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10378440" y="548640"/>
            <a:ext cx="1005840" cy="1005840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6"/>
          <p:cNvSpPr/>
          <p:nvPr/>
        </p:nvSpPr>
        <p:spPr>
          <a:xfrm>
            <a:off x="10655046" y="850392"/>
            <a:ext cx="452628" cy="377190"/>
          </a:xfrm>
          <a:prstGeom prst="rect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2" name="Google Shape;512;p16"/>
          <p:cNvCxnSpPr/>
          <p:nvPr/>
        </p:nvCxnSpPr>
        <p:spPr>
          <a:xfrm>
            <a:off x="10655046" y="1026414"/>
            <a:ext cx="452628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3" name="Google Shape;513;p16"/>
          <p:cNvSpPr/>
          <p:nvPr/>
        </p:nvSpPr>
        <p:spPr>
          <a:xfrm>
            <a:off x="548640" y="1600200"/>
            <a:ext cx="4709160" cy="4434840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6"/>
          <p:cNvSpPr/>
          <p:nvPr/>
        </p:nvSpPr>
        <p:spPr>
          <a:xfrm>
            <a:off x="822960" y="18288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841248" y="2267712"/>
            <a:ext cx="73152" cy="73152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6"/>
          <p:cNvSpPr/>
          <p:nvPr/>
        </p:nvSpPr>
        <p:spPr>
          <a:xfrm>
            <a:off x="1024128" y="217627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modules/inventory/list.php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841248" y="2651760"/>
            <a:ext cx="73152" cy="73152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6"/>
          <p:cNvSpPr/>
          <p:nvPr/>
        </p:nvSpPr>
        <p:spPr>
          <a:xfrm>
            <a:off x="1024128" y="25603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add.php · edit.php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841248" y="3035808"/>
            <a:ext cx="73152" cy="73152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6"/>
          <p:cNvSpPr/>
          <p:nvPr/>
        </p:nvSpPr>
        <p:spPr>
          <a:xfrm>
            <a:off x="1024128" y="294436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suppliers.php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841248" y="3419856"/>
            <a:ext cx="73152" cy="73152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6"/>
          <p:cNvSpPr/>
          <p:nvPr/>
        </p:nvSpPr>
        <p:spPr>
          <a:xfrm>
            <a:off x="1024128" y="3328416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po-create · po-view · po-action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5532120" y="1600200"/>
            <a:ext cx="457200" cy="457200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4" name="Google Shape;524;p16"/>
          <p:cNvCxnSpPr/>
          <p:nvPr/>
        </p:nvCxnSpPr>
        <p:spPr>
          <a:xfrm>
            <a:off x="5680710" y="183337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5" name="Google Shape;525;p16"/>
          <p:cNvCxnSpPr/>
          <p:nvPr/>
        </p:nvCxnSpPr>
        <p:spPr>
          <a:xfrm flipH="1" rot="10800000">
            <a:off x="5744718" y="175564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6" name="Google Shape;526;p16"/>
          <p:cNvSpPr/>
          <p:nvPr/>
        </p:nvSpPr>
        <p:spPr>
          <a:xfrm>
            <a:off x="6126480" y="156362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Stock &amp; Supplier CRUD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6"/>
          <p:cNvSpPr/>
          <p:nvPr/>
        </p:nvSpPr>
        <p:spPr>
          <a:xfrm>
            <a:off x="6126480" y="189280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Linen, minibar and cleaning supplies tracked with live quantities.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6"/>
          <p:cNvSpPr/>
          <p:nvPr/>
        </p:nvSpPr>
        <p:spPr>
          <a:xfrm>
            <a:off x="5532120" y="2651760"/>
            <a:ext cx="457200" cy="457200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9" name="Google Shape;529;p16"/>
          <p:cNvCxnSpPr/>
          <p:nvPr/>
        </p:nvCxnSpPr>
        <p:spPr>
          <a:xfrm>
            <a:off x="5680710" y="288493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0" name="Google Shape;530;p16"/>
          <p:cNvCxnSpPr/>
          <p:nvPr/>
        </p:nvCxnSpPr>
        <p:spPr>
          <a:xfrm flipH="1" rot="10800000">
            <a:off x="5744718" y="280720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1" name="Google Shape;531;p16"/>
          <p:cNvSpPr/>
          <p:nvPr/>
        </p:nvSpPr>
        <p:spPr>
          <a:xfrm>
            <a:off x="6126480" y="261518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Full Purchase Order Lifecycle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6"/>
          <p:cNvSpPr/>
          <p:nvPr/>
        </p:nvSpPr>
        <p:spPr>
          <a:xfrm>
            <a:off x="6126480" y="294436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Create → approve → receive, restocking inventory automatically on receipt.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6"/>
          <p:cNvSpPr/>
          <p:nvPr/>
        </p:nvSpPr>
        <p:spPr>
          <a:xfrm>
            <a:off x="5532120" y="3703320"/>
            <a:ext cx="457200" cy="457200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4" name="Google Shape;534;p16"/>
          <p:cNvCxnSpPr/>
          <p:nvPr/>
        </p:nvCxnSpPr>
        <p:spPr>
          <a:xfrm>
            <a:off x="5680710" y="393649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5" name="Google Shape;535;p16"/>
          <p:cNvCxnSpPr/>
          <p:nvPr/>
        </p:nvCxnSpPr>
        <p:spPr>
          <a:xfrm flipH="1" rot="10800000">
            <a:off x="5744718" y="385876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6" name="Google Shape;536;p16"/>
          <p:cNvSpPr/>
          <p:nvPr/>
        </p:nvSpPr>
        <p:spPr>
          <a:xfrm>
            <a:off x="6126480" y="366674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Demand-Driven Reordering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6"/>
          <p:cNvSpPr/>
          <p:nvPr/>
        </p:nvSpPr>
        <p:spPr>
          <a:xfrm>
            <a:off x="6126480" y="399592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Consumption recorded at checkout feeds directly into restock decisions.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7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CORE MODULE 7 OF 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548640" y="658368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Billing &amp; Payments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10378440" y="548640"/>
            <a:ext cx="1005840" cy="10058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7"/>
          <p:cNvSpPr/>
          <p:nvPr/>
        </p:nvSpPr>
        <p:spPr>
          <a:xfrm>
            <a:off x="10629900" y="890626"/>
            <a:ext cx="502920" cy="321869"/>
          </a:xfrm>
          <a:prstGeom prst="rect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7"/>
          <p:cNvSpPr/>
          <p:nvPr/>
        </p:nvSpPr>
        <p:spPr>
          <a:xfrm>
            <a:off x="10815980" y="986180"/>
            <a:ext cx="130759" cy="130759"/>
          </a:xfrm>
          <a:prstGeom prst="ellipse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7"/>
          <p:cNvSpPr/>
          <p:nvPr/>
        </p:nvSpPr>
        <p:spPr>
          <a:xfrm>
            <a:off x="548640" y="1600200"/>
            <a:ext cx="4709160" cy="4434840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7"/>
          <p:cNvSpPr/>
          <p:nvPr/>
        </p:nvSpPr>
        <p:spPr>
          <a:xfrm>
            <a:off x="822960" y="18288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7"/>
          <p:cNvSpPr/>
          <p:nvPr/>
        </p:nvSpPr>
        <p:spPr>
          <a:xfrm>
            <a:off x="841248" y="2267712"/>
            <a:ext cx="73152" cy="7315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7"/>
          <p:cNvSpPr/>
          <p:nvPr/>
        </p:nvSpPr>
        <p:spPr>
          <a:xfrm>
            <a:off x="1024128" y="217627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modules/billing/list.php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841248" y="2651760"/>
            <a:ext cx="73152" cy="7315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7"/>
          <p:cNvSpPr/>
          <p:nvPr/>
        </p:nvSpPr>
        <p:spPr>
          <a:xfrm>
            <a:off x="1024128" y="25603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invoice.php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841248" y="3035808"/>
            <a:ext cx="73152" cy="7315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7"/>
          <p:cNvSpPr/>
          <p:nvPr/>
        </p:nvSpPr>
        <p:spPr>
          <a:xfrm>
            <a:off x="1024128" y="294436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pay.php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7"/>
          <p:cNvSpPr/>
          <p:nvPr/>
        </p:nvSpPr>
        <p:spPr>
          <a:xfrm>
            <a:off x="5532120" y="160020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8" name="Google Shape;558;p17"/>
          <p:cNvCxnSpPr/>
          <p:nvPr/>
        </p:nvCxnSpPr>
        <p:spPr>
          <a:xfrm>
            <a:off x="5680710" y="183337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9" name="Google Shape;559;p17"/>
          <p:cNvCxnSpPr/>
          <p:nvPr/>
        </p:nvCxnSpPr>
        <p:spPr>
          <a:xfrm flipH="1" rot="10800000">
            <a:off x="5744718" y="175564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0" name="Google Shape;560;p17"/>
          <p:cNvSpPr/>
          <p:nvPr/>
        </p:nvSpPr>
        <p:spPr>
          <a:xfrm>
            <a:off x="6126480" y="156362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Automatic Invoice Generation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6126480" y="189280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Room charges calculated from length of stay and rate at checkout.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5532120" y="26517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3" name="Google Shape;563;p17"/>
          <p:cNvCxnSpPr/>
          <p:nvPr/>
        </p:nvCxnSpPr>
        <p:spPr>
          <a:xfrm>
            <a:off x="5680710" y="288493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4" name="Google Shape;564;p17"/>
          <p:cNvCxnSpPr/>
          <p:nvPr/>
        </p:nvCxnSpPr>
        <p:spPr>
          <a:xfrm flipH="1" rot="10800000">
            <a:off x="5744718" y="280720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5" name="Google Shape;565;p17"/>
          <p:cNvSpPr/>
          <p:nvPr/>
        </p:nvSpPr>
        <p:spPr>
          <a:xfrm>
            <a:off x="6126480" y="261518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Consolidated Charges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7"/>
          <p:cNvSpPr/>
          <p:nvPr/>
        </p:nvSpPr>
        <p:spPr>
          <a:xfrm>
            <a:off x="6126480" y="294436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Room + consumed inventory items combined into one accurate invoice.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7"/>
          <p:cNvSpPr/>
          <p:nvPr/>
        </p:nvSpPr>
        <p:spPr>
          <a:xfrm>
            <a:off x="5532120" y="370332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8" name="Google Shape;568;p17"/>
          <p:cNvCxnSpPr/>
          <p:nvPr/>
        </p:nvCxnSpPr>
        <p:spPr>
          <a:xfrm>
            <a:off x="5680710" y="393649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9" name="Google Shape;569;p17"/>
          <p:cNvCxnSpPr/>
          <p:nvPr/>
        </p:nvCxnSpPr>
        <p:spPr>
          <a:xfrm flipH="1" rot="10800000">
            <a:off x="5744718" y="385876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0" name="Google Shape;570;p17"/>
          <p:cNvSpPr/>
          <p:nvPr/>
        </p:nvSpPr>
        <p:spPr>
          <a:xfrm>
            <a:off x="6126480" y="366674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Payment Recording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7"/>
          <p:cNvSpPr/>
          <p:nvPr/>
        </p:nvSpPr>
        <p:spPr>
          <a:xfrm>
            <a:off x="6126480" y="399592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Reconciliation happens once, in the system, not manually at the front desk.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8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CORE MODULE 8 OF 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8"/>
          <p:cNvSpPr/>
          <p:nvPr/>
        </p:nvSpPr>
        <p:spPr>
          <a:xfrm>
            <a:off x="548640" y="658368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Employees (HR) &amp; User Admin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8"/>
          <p:cNvSpPr/>
          <p:nvPr/>
        </p:nvSpPr>
        <p:spPr>
          <a:xfrm>
            <a:off x="10378440" y="548640"/>
            <a:ext cx="1005840" cy="1005840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8"/>
          <p:cNvSpPr/>
          <p:nvPr/>
        </p:nvSpPr>
        <p:spPr>
          <a:xfrm>
            <a:off x="10770718" y="774954"/>
            <a:ext cx="221285" cy="22128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8"/>
          <p:cNvSpPr/>
          <p:nvPr/>
        </p:nvSpPr>
        <p:spPr>
          <a:xfrm>
            <a:off x="10680192" y="1026414"/>
            <a:ext cx="402336" cy="402336"/>
          </a:xfrm>
          <a:prstGeom prst="arc">
            <a:avLst>
              <a:gd fmla="val 10800000" name="adj1"/>
              <a:gd fmla="val 2160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8"/>
          <p:cNvSpPr/>
          <p:nvPr/>
        </p:nvSpPr>
        <p:spPr>
          <a:xfrm>
            <a:off x="548640" y="1600200"/>
            <a:ext cx="4709160" cy="4434840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8"/>
          <p:cNvSpPr/>
          <p:nvPr/>
        </p:nvSpPr>
        <p:spPr>
          <a:xfrm>
            <a:off x="822960" y="18288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8"/>
          <p:cNvSpPr/>
          <p:nvPr/>
        </p:nvSpPr>
        <p:spPr>
          <a:xfrm>
            <a:off x="841248" y="2267712"/>
            <a:ext cx="73152" cy="73152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8"/>
          <p:cNvSpPr/>
          <p:nvPr/>
        </p:nvSpPr>
        <p:spPr>
          <a:xfrm>
            <a:off x="1024128" y="217627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modules/employees/list.php · add.php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8"/>
          <p:cNvSpPr/>
          <p:nvPr/>
        </p:nvSpPr>
        <p:spPr>
          <a:xfrm>
            <a:off x="841248" y="2651760"/>
            <a:ext cx="73152" cy="73152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8"/>
          <p:cNvSpPr/>
          <p:nvPr/>
        </p:nvSpPr>
        <p:spPr>
          <a:xfrm>
            <a:off x="1024128" y="25603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modules/users/list.php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8"/>
          <p:cNvSpPr/>
          <p:nvPr/>
        </p:nvSpPr>
        <p:spPr>
          <a:xfrm>
            <a:off x="841248" y="3035808"/>
            <a:ext cx="73152" cy="73152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8"/>
          <p:cNvSpPr/>
          <p:nvPr/>
        </p:nvSpPr>
        <p:spPr>
          <a:xfrm>
            <a:off x="1024128" y="294436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toggle-status.php · audit-log.php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8"/>
          <p:cNvSpPr/>
          <p:nvPr/>
        </p:nvSpPr>
        <p:spPr>
          <a:xfrm>
            <a:off x="5532120" y="1600200"/>
            <a:ext cx="457200" cy="457200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2" name="Google Shape;592;p18"/>
          <p:cNvCxnSpPr/>
          <p:nvPr/>
        </p:nvCxnSpPr>
        <p:spPr>
          <a:xfrm>
            <a:off x="5680710" y="183337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3" name="Google Shape;593;p18"/>
          <p:cNvCxnSpPr/>
          <p:nvPr/>
        </p:nvCxnSpPr>
        <p:spPr>
          <a:xfrm flipH="1" rot="10800000">
            <a:off x="5744718" y="175564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4" name="Google Shape;594;p18"/>
          <p:cNvSpPr/>
          <p:nvPr/>
        </p:nvSpPr>
        <p:spPr>
          <a:xfrm>
            <a:off x="6126480" y="156362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Staff Records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8"/>
          <p:cNvSpPr/>
          <p:nvPr/>
        </p:nvSpPr>
        <p:spPr>
          <a:xfrm>
            <a:off x="6126480" y="189280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Employee data optionally linked to a system login account.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8"/>
          <p:cNvSpPr/>
          <p:nvPr/>
        </p:nvSpPr>
        <p:spPr>
          <a:xfrm>
            <a:off x="5532120" y="2651760"/>
            <a:ext cx="457200" cy="457200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7" name="Google Shape;597;p18"/>
          <p:cNvCxnSpPr/>
          <p:nvPr/>
        </p:nvCxnSpPr>
        <p:spPr>
          <a:xfrm>
            <a:off x="5680710" y="288493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8" name="Google Shape;598;p18"/>
          <p:cNvCxnSpPr/>
          <p:nvPr/>
        </p:nvCxnSpPr>
        <p:spPr>
          <a:xfrm flipH="1" rot="10800000">
            <a:off x="5744718" y="280720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9" name="Google Shape;599;p18"/>
          <p:cNvSpPr/>
          <p:nvPr/>
        </p:nvSpPr>
        <p:spPr>
          <a:xfrm>
            <a:off x="6126480" y="261518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Admin-Only User Management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8"/>
          <p:cNvSpPr/>
          <p:nvPr/>
        </p:nvSpPr>
        <p:spPr>
          <a:xfrm>
            <a:off x="6126480" y="294436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Enable, disable and manage accounts from a single screen.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8"/>
          <p:cNvSpPr/>
          <p:nvPr/>
        </p:nvSpPr>
        <p:spPr>
          <a:xfrm>
            <a:off x="5532120" y="3703320"/>
            <a:ext cx="457200" cy="457200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2" name="Google Shape;602;p18"/>
          <p:cNvCxnSpPr/>
          <p:nvPr/>
        </p:nvCxnSpPr>
        <p:spPr>
          <a:xfrm>
            <a:off x="5680710" y="393649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3" name="Google Shape;603;p18"/>
          <p:cNvCxnSpPr/>
          <p:nvPr/>
        </p:nvCxnSpPr>
        <p:spPr>
          <a:xfrm flipH="1" rot="10800000">
            <a:off x="5744718" y="385876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4" name="Google Shape;604;p18"/>
          <p:cNvSpPr/>
          <p:nvPr/>
        </p:nvSpPr>
        <p:spPr>
          <a:xfrm>
            <a:off x="6126480" y="366674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Full Audit Log Viewer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8"/>
          <p:cNvSpPr/>
          <p:nvPr/>
        </p:nvSpPr>
        <p:spPr>
          <a:xfrm>
            <a:off x="6126480" y="399592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Every meaningful action across every module is traceable for accountability.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9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CROSS-CUTTING MODULE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9"/>
          <p:cNvSpPr/>
          <p:nvPr/>
        </p:nvSpPr>
        <p:spPr>
          <a:xfrm>
            <a:off x="548640" y="658368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Reports &amp; Analytics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9"/>
          <p:cNvSpPr/>
          <p:nvPr/>
        </p:nvSpPr>
        <p:spPr>
          <a:xfrm>
            <a:off x="10378440" y="548640"/>
            <a:ext cx="1005840" cy="10058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9"/>
          <p:cNvSpPr/>
          <p:nvPr/>
        </p:nvSpPr>
        <p:spPr>
          <a:xfrm>
            <a:off x="10604754" y="1139571"/>
            <a:ext cx="110642" cy="1383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9"/>
          <p:cNvSpPr/>
          <p:nvPr/>
        </p:nvSpPr>
        <p:spPr>
          <a:xfrm>
            <a:off x="10755630" y="1064133"/>
            <a:ext cx="110642" cy="2137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9"/>
          <p:cNvSpPr/>
          <p:nvPr/>
        </p:nvSpPr>
        <p:spPr>
          <a:xfrm>
            <a:off x="10906506" y="1189863"/>
            <a:ext cx="110642" cy="880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9"/>
          <p:cNvSpPr/>
          <p:nvPr/>
        </p:nvSpPr>
        <p:spPr>
          <a:xfrm>
            <a:off x="11057382" y="1013841"/>
            <a:ext cx="110642" cy="2640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9"/>
          <p:cNvSpPr/>
          <p:nvPr/>
        </p:nvSpPr>
        <p:spPr>
          <a:xfrm>
            <a:off x="548640" y="1600200"/>
            <a:ext cx="4709160" cy="4434840"/>
          </a:xfrm>
          <a:prstGeom prst="rect">
            <a:avLst/>
          </a:prstGeom>
          <a:solidFill>
            <a:srgbClr val="F3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9"/>
          <p:cNvSpPr/>
          <p:nvPr/>
        </p:nvSpPr>
        <p:spPr>
          <a:xfrm>
            <a:off x="822960" y="18288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9"/>
          <p:cNvSpPr/>
          <p:nvPr/>
        </p:nvSpPr>
        <p:spPr>
          <a:xfrm>
            <a:off x="841248" y="2267712"/>
            <a:ext cx="73152" cy="7315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9"/>
          <p:cNvSpPr/>
          <p:nvPr/>
        </p:nvSpPr>
        <p:spPr>
          <a:xfrm>
            <a:off x="1024128" y="217627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modules/reports/index.php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9"/>
          <p:cNvSpPr/>
          <p:nvPr/>
        </p:nvSpPr>
        <p:spPr>
          <a:xfrm>
            <a:off x="5532120" y="160020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4" name="Google Shape;624;p19"/>
          <p:cNvCxnSpPr/>
          <p:nvPr/>
        </p:nvCxnSpPr>
        <p:spPr>
          <a:xfrm>
            <a:off x="5680710" y="183337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5" name="Google Shape;625;p19"/>
          <p:cNvCxnSpPr/>
          <p:nvPr/>
        </p:nvCxnSpPr>
        <p:spPr>
          <a:xfrm flipH="1" rot="10800000">
            <a:off x="5744718" y="175564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6" name="Google Shape;626;p19"/>
          <p:cNvSpPr/>
          <p:nvPr/>
        </p:nvSpPr>
        <p:spPr>
          <a:xfrm>
            <a:off x="6126480" y="156362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Revenue by Room Type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9"/>
          <p:cNvSpPr/>
          <p:nvPr/>
        </p:nvSpPr>
        <p:spPr>
          <a:xfrm>
            <a:off x="6126480" y="189280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Cross-module financial analysis pulled straight from the shared schema.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9"/>
          <p:cNvSpPr/>
          <p:nvPr/>
        </p:nvSpPr>
        <p:spPr>
          <a:xfrm>
            <a:off x="5532120" y="26517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9" name="Google Shape;629;p19"/>
          <p:cNvCxnSpPr/>
          <p:nvPr/>
        </p:nvCxnSpPr>
        <p:spPr>
          <a:xfrm>
            <a:off x="5680710" y="288493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0" name="Google Shape;630;p19"/>
          <p:cNvCxnSpPr/>
          <p:nvPr/>
        </p:nvCxnSpPr>
        <p:spPr>
          <a:xfrm flipH="1" rot="10800000">
            <a:off x="5744718" y="280720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1" name="Google Shape;631;p19"/>
          <p:cNvSpPr/>
          <p:nvPr/>
        </p:nvSpPr>
        <p:spPr>
          <a:xfrm>
            <a:off x="6126480" y="261518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Room Status Breakdown &amp; Low-Stock Alerts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9"/>
          <p:cNvSpPr/>
          <p:nvPr/>
        </p:nvSpPr>
        <p:spPr>
          <a:xfrm>
            <a:off x="6126480" y="294436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Operational visibility for managers without a manual walk-through.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9"/>
          <p:cNvSpPr/>
          <p:nvPr/>
        </p:nvSpPr>
        <p:spPr>
          <a:xfrm>
            <a:off x="5532120" y="370332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4" name="Google Shape;634;p19"/>
          <p:cNvCxnSpPr/>
          <p:nvPr/>
        </p:nvCxnSpPr>
        <p:spPr>
          <a:xfrm>
            <a:off x="5680710" y="3936492"/>
            <a:ext cx="64008" cy="73152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5" name="Google Shape;635;p19"/>
          <p:cNvCxnSpPr/>
          <p:nvPr/>
        </p:nvCxnSpPr>
        <p:spPr>
          <a:xfrm flipH="1" rot="10800000">
            <a:off x="5744718" y="3858768"/>
            <a:ext cx="114300" cy="150876"/>
          </a:xfrm>
          <a:prstGeom prst="straightConnector1">
            <a:avLst/>
          </a:prstGeom>
          <a:noFill/>
          <a:ln cap="flat" cmpd="sng" w="27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6" name="Google Shape;636;p19"/>
          <p:cNvSpPr/>
          <p:nvPr/>
        </p:nvSpPr>
        <p:spPr>
          <a:xfrm>
            <a:off x="6126480" y="3666744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Top-Spending Guests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9"/>
          <p:cNvSpPr/>
          <p:nvPr/>
        </p:nvSpPr>
        <p:spPr>
          <a:xfrm>
            <a:off x="6126480" y="399592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CRM-driven analytics identifying guests worth prioritising for retention.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4" name="Google Shape;644;p20"/>
          <p:cNvCxnSpPr/>
          <p:nvPr/>
        </p:nvCxnSpPr>
        <p:spPr>
          <a:xfrm rot="10800000">
            <a:off x="5806486" y="2191872"/>
            <a:ext cx="0" cy="1606800"/>
          </a:xfrm>
          <a:prstGeom prst="straightConnector1">
            <a:avLst/>
          </a:prstGeom>
          <a:noFill/>
          <a:ln cap="flat" cmpd="sng" w="20875">
            <a:solidFill>
              <a:srgbClr val="C9A15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5" name="Google Shape;645;p20"/>
          <p:cNvCxnSpPr/>
          <p:nvPr/>
        </p:nvCxnSpPr>
        <p:spPr>
          <a:xfrm>
            <a:off x="5806486" y="3798672"/>
            <a:ext cx="2734800" cy="0"/>
          </a:xfrm>
          <a:prstGeom prst="straightConnector1">
            <a:avLst/>
          </a:prstGeom>
          <a:noFill/>
          <a:ln cap="flat" cmpd="sng" w="20875">
            <a:solidFill>
              <a:srgbClr val="C9A15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6" name="Google Shape;646;p20"/>
          <p:cNvCxnSpPr/>
          <p:nvPr/>
        </p:nvCxnSpPr>
        <p:spPr>
          <a:xfrm>
            <a:off x="5806486" y="3798672"/>
            <a:ext cx="0" cy="1606800"/>
          </a:xfrm>
          <a:prstGeom prst="straightConnector1">
            <a:avLst/>
          </a:prstGeom>
          <a:noFill/>
          <a:ln cap="flat" cmpd="sng" w="20875">
            <a:solidFill>
              <a:srgbClr val="C9A15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7" name="Google Shape;647;p20"/>
          <p:cNvCxnSpPr/>
          <p:nvPr/>
        </p:nvCxnSpPr>
        <p:spPr>
          <a:xfrm rot="10800000">
            <a:off x="3071686" y="3798672"/>
            <a:ext cx="2734800" cy="0"/>
          </a:xfrm>
          <a:prstGeom prst="straightConnector1">
            <a:avLst/>
          </a:prstGeom>
          <a:noFill/>
          <a:ln cap="flat" cmpd="sng" w="20875">
            <a:solidFill>
              <a:srgbClr val="C9A1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8" name="Google Shape;648;p2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PROCESS 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0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The Checkout Flow — One Action, Four Updates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0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modules/reservations/checkout.php runs a single database transaction that keeps every module in sync — the clearest example of ERP integration in this system.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0"/>
          <p:cNvSpPr/>
          <p:nvPr/>
        </p:nvSpPr>
        <p:spPr>
          <a:xfrm>
            <a:off x="5156986" y="3149168"/>
            <a:ext cx="1299000" cy="1299000"/>
          </a:xfrm>
          <a:prstGeom prst="ellipse">
            <a:avLst/>
          </a:prstGeom>
          <a:solidFill>
            <a:srgbClr val="121D33"/>
          </a:solidFill>
          <a:ln>
            <a:noFill/>
          </a:ln>
        </p:spPr>
        <p:txBody>
          <a:bodyPr anchorCtr="0" anchor="ctr" bIns="68375" lIns="68375" spcFirstLastPara="1" rIns="68375" wrap="square" tIns="68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0"/>
          <p:cNvSpPr/>
          <p:nvPr/>
        </p:nvSpPr>
        <p:spPr>
          <a:xfrm>
            <a:off x="5156986" y="3525197"/>
            <a:ext cx="12990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2"/>
              <a:buFont typeface="Calibri"/>
              <a:buNone/>
            </a:pPr>
            <a:r>
              <a:rPr b="1" i="0" lang="en-US" sz="97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Guest</a:t>
            </a:r>
            <a:endParaRPr b="0" i="0" sz="9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2"/>
              <a:buFont typeface="Calibri"/>
              <a:buNone/>
            </a:pPr>
            <a:r>
              <a:rPr b="1" i="0" lang="en-US" sz="97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Checks Out</a:t>
            </a:r>
            <a:endParaRPr b="0" i="0" sz="9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0"/>
          <p:cNvSpPr/>
          <p:nvPr/>
        </p:nvSpPr>
        <p:spPr>
          <a:xfrm>
            <a:off x="5314234" y="1699750"/>
            <a:ext cx="984300" cy="9843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68375" lIns="68375" spcFirstLastPara="1" rIns="68375" wrap="square" tIns="68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0"/>
          <p:cNvSpPr/>
          <p:nvPr/>
        </p:nvSpPr>
        <p:spPr>
          <a:xfrm>
            <a:off x="5609585" y="1921265"/>
            <a:ext cx="393600" cy="393600"/>
          </a:xfrm>
          <a:prstGeom prst="ellipse">
            <a:avLst/>
          </a:prstGeom>
          <a:noFill/>
          <a:ln cap="flat" cmpd="sng" w="20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375" lIns="68375" spcFirstLastPara="1" rIns="68375" wrap="square" tIns="68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0"/>
          <p:cNvSpPr/>
          <p:nvPr/>
        </p:nvSpPr>
        <p:spPr>
          <a:xfrm rot="10800000">
            <a:off x="5733654" y="1196035"/>
            <a:ext cx="237012" cy="263347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0"/>
          <p:cNvSpPr/>
          <p:nvPr/>
        </p:nvSpPr>
        <p:spPr>
          <a:xfrm>
            <a:off x="4917697" y="2725282"/>
            <a:ext cx="1777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72"/>
              <a:buFont typeface="Calibri"/>
              <a:buNone/>
            </a:pPr>
            <a:r>
              <a:rPr b="1" i="0" lang="en-US" sz="972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Reservations</a:t>
            </a:r>
            <a:endParaRPr b="0" i="0" sz="9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0"/>
          <p:cNvSpPr/>
          <p:nvPr/>
        </p:nvSpPr>
        <p:spPr>
          <a:xfrm>
            <a:off x="4917697" y="2944062"/>
            <a:ext cx="17775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85"/>
              <a:buFont typeface="Calibri"/>
              <a:buNone/>
            </a:pPr>
            <a:r>
              <a:rPr b="0" i="0" lang="en-US" sz="785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Status → Completed</a:t>
            </a:r>
            <a:endParaRPr b="0" i="0" sz="7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0"/>
          <p:cNvSpPr/>
          <p:nvPr/>
        </p:nvSpPr>
        <p:spPr>
          <a:xfrm>
            <a:off x="8048968" y="3306417"/>
            <a:ext cx="984300" cy="984300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68375" lIns="68375" spcFirstLastPara="1" rIns="68375" wrap="square" tIns="68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0"/>
          <p:cNvSpPr/>
          <p:nvPr/>
        </p:nvSpPr>
        <p:spPr>
          <a:xfrm>
            <a:off x="8270482" y="3774059"/>
            <a:ext cx="541500" cy="2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375" lIns="68375" spcFirstLastPara="1" rIns="68375" wrap="square" tIns="68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0"/>
          <p:cNvSpPr/>
          <p:nvPr/>
        </p:nvSpPr>
        <p:spPr>
          <a:xfrm>
            <a:off x="8270482" y="3626382"/>
            <a:ext cx="172200" cy="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375" lIns="68375" spcFirstLastPara="1" rIns="68375" wrap="square" tIns="68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0"/>
          <p:cNvSpPr/>
          <p:nvPr/>
        </p:nvSpPr>
        <p:spPr>
          <a:xfrm>
            <a:off x="7652432" y="4331948"/>
            <a:ext cx="1777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72"/>
              <a:buFont typeface="Calibri"/>
              <a:buNone/>
            </a:pPr>
            <a:r>
              <a:rPr b="1" i="0" lang="en-US" sz="972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Rooms</a:t>
            </a:r>
            <a:endParaRPr b="0" i="0" sz="9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0"/>
          <p:cNvSpPr/>
          <p:nvPr/>
        </p:nvSpPr>
        <p:spPr>
          <a:xfrm>
            <a:off x="7652432" y="4550729"/>
            <a:ext cx="17775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85"/>
              <a:buFont typeface="Calibri"/>
              <a:buNone/>
            </a:pPr>
            <a:r>
              <a:rPr b="0" i="0" lang="en-US" sz="785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Status → Cleaning</a:t>
            </a:r>
            <a:endParaRPr b="0" i="0" sz="7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0"/>
          <p:cNvSpPr/>
          <p:nvPr/>
        </p:nvSpPr>
        <p:spPr>
          <a:xfrm>
            <a:off x="5314234" y="4913083"/>
            <a:ext cx="984300" cy="9843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68375" lIns="68375" spcFirstLastPara="1" rIns="68375" wrap="square" tIns="68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0"/>
          <p:cNvSpPr/>
          <p:nvPr/>
        </p:nvSpPr>
        <p:spPr>
          <a:xfrm>
            <a:off x="5560360" y="5247816"/>
            <a:ext cx="492300" cy="315000"/>
          </a:xfrm>
          <a:prstGeom prst="rect">
            <a:avLst/>
          </a:prstGeom>
          <a:noFill/>
          <a:ln cap="flat" cmpd="sng" w="20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375" lIns="68375" spcFirstLastPara="1" rIns="68375" wrap="square" tIns="68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0"/>
          <p:cNvSpPr/>
          <p:nvPr/>
        </p:nvSpPr>
        <p:spPr>
          <a:xfrm>
            <a:off x="5742493" y="5341345"/>
            <a:ext cx="127800" cy="127800"/>
          </a:xfrm>
          <a:prstGeom prst="ellipse">
            <a:avLst/>
          </a:prstGeom>
          <a:noFill/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375" lIns="68375" spcFirstLastPara="1" rIns="68375" wrap="square" tIns="68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0"/>
          <p:cNvSpPr/>
          <p:nvPr/>
        </p:nvSpPr>
        <p:spPr>
          <a:xfrm>
            <a:off x="4917697" y="5938615"/>
            <a:ext cx="1777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72"/>
              <a:buFont typeface="Calibri"/>
              <a:buNone/>
            </a:pPr>
            <a:r>
              <a:rPr b="1" i="0" lang="en-US" sz="972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Billing</a:t>
            </a:r>
            <a:endParaRPr b="0" i="0" sz="9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0"/>
          <p:cNvSpPr/>
          <p:nvPr/>
        </p:nvSpPr>
        <p:spPr>
          <a:xfrm>
            <a:off x="4917697" y="6157395"/>
            <a:ext cx="17775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85"/>
              <a:buFont typeface="Calibri"/>
              <a:buNone/>
            </a:pPr>
            <a:r>
              <a:rPr b="0" i="0" lang="en-US" sz="785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Invoice generated</a:t>
            </a:r>
            <a:endParaRPr b="0" i="0" sz="7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0"/>
          <p:cNvSpPr/>
          <p:nvPr/>
        </p:nvSpPr>
        <p:spPr>
          <a:xfrm>
            <a:off x="2579499" y="3306417"/>
            <a:ext cx="984300" cy="984300"/>
          </a:xfrm>
          <a:prstGeom prst="ellipse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68375" lIns="68375" spcFirstLastPara="1" rIns="68375" wrap="square" tIns="68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0"/>
          <p:cNvSpPr/>
          <p:nvPr/>
        </p:nvSpPr>
        <p:spPr>
          <a:xfrm>
            <a:off x="2850237" y="3601770"/>
            <a:ext cx="443100" cy="369300"/>
          </a:xfrm>
          <a:prstGeom prst="rect">
            <a:avLst/>
          </a:prstGeom>
          <a:noFill/>
          <a:ln cap="flat" cmpd="sng" w="20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375" lIns="68375" spcFirstLastPara="1" rIns="68375" wrap="square" tIns="68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0" name="Google Shape;670;p20"/>
          <p:cNvCxnSpPr/>
          <p:nvPr/>
        </p:nvCxnSpPr>
        <p:spPr>
          <a:xfrm>
            <a:off x="2850237" y="3774059"/>
            <a:ext cx="443100" cy="0"/>
          </a:xfrm>
          <a:prstGeom prst="straightConnector1">
            <a:avLst/>
          </a:prstGeom>
          <a:noFill/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1" name="Google Shape;671;p20"/>
          <p:cNvSpPr/>
          <p:nvPr/>
        </p:nvSpPr>
        <p:spPr>
          <a:xfrm>
            <a:off x="2182962" y="4331948"/>
            <a:ext cx="1777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72"/>
              <a:buFont typeface="Calibri"/>
              <a:buNone/>
            </a:pPr>
            <a:r>
              <a:rPr b="1" i="0" lang="en-US" sz="972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Inventory</a:t>
            </a:r>
            <a:endParaRPr b="0" i="0" sz="9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0"/>
          <p:cNvSpPr/>
          <p:nvPr/>
        </p:nvSpPr>
        <p:spPr>
          <a:xfrm>
            <a:off x="2182962" y="4550729"/>
            <a:ext cx="17775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85"/>
              <a:buFont typeface="Calibri"/>
              <a:buNone/>
            </a:pPr>
            <a:r>
              <a:rPr b="0" i="0" lang="en-US" sz="785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Stock decremented</a:t>
            </a:r>
            <a:endParaRPr b="0" i="0" sz="7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0"/>
          <p:cNvSpPr/>
          <p:nvPr/>
        </p:nvSpPr>
        <p:spPr>
          <a:xfrm>
            <a:off x="548578" y="6362365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This is systems integration in action — replacing siloed manual reconciliation with one atomic transaction.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D33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Azure Cloud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1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9CC"/>
                </a:solidFill>
                <a:latin typeface="Calibri"/>
                <a:ea typeface="Calibri"/>
                <a:cs typeface="Calibri"/>
                <a:sym typeface="Calibri"/>
              </a:rPr>
              <a:t>Deployed live on Microsoft Azure with continuous deployment from GitHub.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1"/>
          <p:cNvSpPr/>
          <p:nvPr/>
        </p:nvSpPr>
        <p:spPr>
          <a:xfrm>
            <a:off x="548640" y="2103120"/>
            <a:ext cx="2377440" cy="1051560"/>
          </a:xfrm>
          <a:prstGeom prst="rect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1"/>
          <p:cNvSpPr/>
          <p:nvPr/>
        </p:nvSpPr>
        <p:spPr>
          <a:xfrm>
            <a:off x="685800" y="2212848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4CE95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4CE95"/>
                </a:solidFill>
                <a:latin typeface="Calibri"/>
                <a:ea typeface="Calibri"/>
                <a:cs typeface="Calibri"/>
                <a:sym typeface="Calibri"/>
              </a:rPr>
              <a:t>Repository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1"/>
          <p:cNvSpPr/>
          <p:nvPr/>
        </p:nvSpPr>
        <p:spPr>
          <a:xfrm>
            <a:off x="685800" y="256032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1"/>
          <p:cNvSpPr/>
          <p:nvPr/>
        </p:nvSpPr>
        <p:spPr>
          <a:xfrm>
            <a:off x="3383280" y="2103120"/>
            <a:ext cx="2377440" cy="1051560"/>
          </a:xfrm>
          <a:prstGeom prst="rect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1"/>
          <p:cNvSpPr/>
          <p:nvPr/>
        </p:nvSpPr>
        <p:spPr>
          <a:xfrm>
            <a:off x="3520440" y="2212848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4CE95"/>
                </a:solidFill>
                <a:latin typeface="Calibri"/>
                <a:ea typeface="Calibri"/>
                <a:cs typeface="Calibri"/>
                <a:sym typeface="Calibri"/>
              </a:rPr>
              <a:t>GitHub Actions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4CE95"/>
                </a:solidFill>
                <a:latin typeface="Calibri"/>
                <a:ea typeface="Calibri"/>
                <a:cs typeface="Calibri"/>
                <a:sym typeface="Calibri"/>
              </a:rPr>
              <a:t>CI/CD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1"/>
          <p:cNvSpPr/>
          <p:nvPr/>
        </p:nvSpPr>
        <p:spPr>
          <a:xfrm>
            <a:off x="3520440" y="256032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azure-deploy.yml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1"/>
          <p:cNvSpPr/>
          <p:nvPr/>
        </p:nvSpPr>
        <p:spPr>
          <a:xfrm>
            <a:off x="6217920" y="1371600"/>
            <a:ext cx="2651760" cy="1051560"/>
          </a:xfrm>
          <a:prstGeom prst="rect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1"/>
          <p:cNvSpPr/>
          <p:nvPr/>
        </p:nvSpPr>
        <p:spPr>
          <a:xfrm>
            <a:off x="6355080" y="148132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4CE95"/>
                </a:solidFill>
                <a:latin typeface="Calibri"/>
                <a:ea typeface="Calibri"/>
                <a:cs typeface="Calibri"/>
                <a:sym typeface="Calibri"/>
              </a:rPr>
              <a:t>Azure App Service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1"/>
          <p:cNvSpPr/>
          <p:nvPr/>
        </p:nvSpPr>
        <p:spPr>
          <a:xfrm>
            <a:off x="6355080" y="182880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Linux · PHP 8.2 · B1 tier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Central India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1"/>
          <p:cNvSpPr/>
          <p:nvPr/>
        </p:nvSpPr>
        <p:spPr>
          <a:xfrm>
            <a:off x="6217920" y="3108960"/>
            <a:ext cx="2651760" cy="1051560"/>
          </a:xfrm>
          <a:prstGeom prst="rect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1"/>
          <p:cNvSpPr/>
          <p:nvPr/>
        </p:nvSpPr>
        <p:spPr>
          <a:xfrm>
            <a:off x="6355080" y="32186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4CE95"/>
                </a:solidFill>
                <a:latin typeface="Calibri"/>
                <a:ea typeface="Calibri"/>
                <a:cs typeface="Calibri"/>
                <a:sym typeface="Calibri"/>
              </a:rPr>
              <a:t>Azure SQL Database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1"/>
          <p:cNvSpPr/>
          <p:nvPr/>
        </p:nvSpPr>
        <p:spPr>
          <a:xfrm>
            <a:off x="6355080" y="356616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hotel_erp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East Asia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1"/>
          <p:cNvSpPr/>
          <p:nvPr/>
        </p:nvSpPr>
        <p:spPr>
          <a:xfrm>
            <a:off x="9281160" y="2103120"/>
            <a:ext cx="2331720" cy="1051560"/>
          </a:xfrm>
          <a:prstGeom prst="rect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1"/>
          <p:cNvSpPr/>
          <p:nvPr/>
        </p:nvSpPr>
        <p:spPr>
          <a:xfrm>
            <a:off x="9418320" y="2212848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4CE95"/>
                </a:solidFill>
                <a:latin typeface="Calibri"/>
                <a:ea typeface="Calibri"/>
                <a:cs typeface="Calibri"/>
                <a:sym typeface="Calibri"/>
              </a:rPr>
              <a:t>Live Site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1"/>
          <p:cNvSpPr/>
          <p:nvPr/>
        </p:nvSpPr>
        <p:spPr>
          <a:xfrm>
            <a:off x="9418320" y="2560320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hotelerpfci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.azurewebsites.net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8" name="Google Shape;698;p21"/>
          <p:cNvCxnSpPr/>
          <p:nvPr/>
        </p:nvCxnSpPr>
        <p:spPr>
          <a:xfrm>
            <a:off x="2926080" y="262890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C9A15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9" name="Google Shape;699;p21"/>
          <p:cNvCxnSpPr/>
          <p:nvPr/>
        </p:nvCxnSpPr>
        <p:spPr>
          <a:xfrm flipH="1" rot="10800000">
            <a:off x="5760720" y="1901952"/>
            <a:ext cx="457200" cy="726948"/>
          </a:xfrm>
          <a:prstGeom prst="straightConnector1">
            <a:avLst/>
          </a:prstGeom>
          <a:noFill/>
          <a:ln cap="flat" cmpd="sng" w="25400">
            <a:solidFill>
              <a:srgbClr val="C9A15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21"/>
          <p:cNvCxnSpPr/>
          <p:nvPr/>
        </p:nvCxnSpPr>
        <p:spPr>
          <a:xfrm>
            <a:off x="5760720" y="2628900"/>
            <a:ext cx="457200" cy="1010412"/>
          </a:xfrm>
          <a:prstGeom prst="straightConnector1">
            <a:avLst/>
          </a:prstGeom>
          <a:noFill/>
          <a:ln cap="flat" cmpd="sng" w="25400">
            <a:solidFill>
              <a:srgbClr val="C9A15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1" name="Google Shape;701;p21"/>
          <p:cNvCxnSpPr/>
          <p:nvPr/>
        </p:nvCxnSpPr>
        <p:spPr>
          <a:xfrm>
            <a:off x="8869680" y="1901952"/>
            <a:ext cx="411480" cy="635508"/>
          </a:xfrm>
          <a:prstGeom prst="straightConnector1">
            <a:avLst/>
          </a:prstGeom>
          <a:noFill/>
          <a:ln cap="flat" cmpd="sng" w="25400">
            <a:solidFill>
              <a:srgbClr val="C9A15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2" name="Google Shape;702;p21"/>
          <p:cNvCxnSpPr/>
          <p:nvPr/>
        </p:nvCxnSpPr>
        <p:spPr>
          <a:xfrm flipH="1" rot="10800000">
            <a:off x="8869680" y="2720340"/>
            <a:ext cx="411480" cy="918972"/>
          </a:xfrm>
          <a:prstGeom prst="straightConnector1">
            <a:avLst/>
          </a:prstGeom>
          <a:noFill/>
          <a:ln cap="flat" cmpd="sng" w="25400">
            <a:solidFill>
              <a:srgbClr val="C9A1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3" name="Google Shape;703;p21"/>
          <p:cNvSpPr/>
          <p:nvPr/>
        </p:nvSpPr>
        <p:spPr>
          <a:xfrm>
            <a:off x="548640" y="326440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EB9CC"/>
                </a:solidFill>
                <a:latin typeface="Calibri"/>
                <a:ea typeface="Calibri"/>
                <a:cs typeface="Calibri"/>
                <a:sym typeface="Calibri"/>
              </a:rPr>
              <a:t>push to main  →  build &amp; lint  →  deploy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1"/>
          <p:cNvSpPr/>
          <p:nvPr/>
        </p:nvSpPr>
        <p:spPr>
          <a:xfrm>
            <a:off x="548640" y="4709160"/>
            <a:ext cx="11109960" cy="1371600"/>
          </a:xfrm>
          <a:prstGeom prst="rect">
            <a:avLst/>
          </a:prstGeom>
          <a:solidFill>
            <a:srgbClr val="2032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1"/>
          <p:cNvSpPr/>
          <p:nvPr/>
        </p:nvSpPr>
        <p:spPr>
          <a:xfrm>
            <a:off x="822960" y="49377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LIVE URL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1"/>
          <p:cNvSpPr/>
          <p:nvPr/>
        </p:nvSpPr>
        <p:spPr>
          <a:xfrm>
            <a:off x="822960" y="5212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https://hotelerpfci.azurewebsites.net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1"/>
          <p:cNvSpPr/>
          <p:nvPr/>
        </p:nvSpPr>
        <p:spPr>
          <a:xfrm>
            <a:off x="822960" y="57150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7CEDB"/>
                </a:solidFill>
                <a:latin typeface="Calibri"/>
                <a:ea typeface="Calibri"/>
                <a:cs typeface="Calibri"/>
                <a:sym typeface="Calibri"/>
              </a:rPr>
              <a:t>Every push to main automatically builds, lints and redeploys the live application.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D33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2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Team, Contributions &amp; Conclusion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2"/>
          <p:cNvSpPr/>
          <p:nvPr/>
        </p:nvSpPr>
        <p:spPr>
          <a:xfrm>
            <a:off x="548640" y="1417320"/>
            <a:ext cx="5303520" cy="310896"/>
          </a:xfrm>
          <a:prstGeom prst="rect">
            <a:avLst/>
          </a:prstGeom>
          <a:solidFill>
            <a:srgbClr val="2032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2"/>
          <p:cNvSpPr/>
          <p:nvPr/>
        </p:nvSpPr>
        <p:spPr>
          <a:xfrm>
            <a:off x="685800" y="1417320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Cooray, BSST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2"/>
          <p:cNvSpPr/>
          <p:nvPr/>
        </p:nvSpPr>
        <p:spPr>
          <a:xfrm>
            <a:off x="2926080" y="1417320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4CE95"/>
                </a:solidFill>
                <a:latin typeface="Calibri"/>
                <a:ea typeface="Calibri"/>
                <a:cs typeface="Calibri"/>
                <a:sym typeface="Calibri"/>
              </a:rPr>
              <a:t>Authentication &amp; 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2"/>
          <p:cNvSpPr/>
          <p:nvPr/>
        </p:nvSpPr>
        <p:spPr>
          <a:xfrm>
            <a:off x="685800" y="1728216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Gunathilaka, RRPH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2"/>
          <p:cNvSpPr/>
          <p:nvPr/>
        </p:nvSpPr>
        <p:spPr>
          <a:xfrm>
            <a:off x="2926080" y="1728216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4CE95"/>
                </a:solidFill>
                <a:latin typeface="Calibri"/>
                <a:ea typeface="Calibri"/>
                <a:cs typeface="Calibri"/>
                <a:sym typeface="Calibri"/>
              </a:rPr>
              <a:t>Dashboard &amp; UI Shell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2"/>
          <p:cNvSpPr/>
          <p:nvPr/>
        </p:nvSpPr>
        <p:spPr>
          <a:xfrm>
            <a:off x="548640" y="2039112"/>
            <a:ext cx="5303520" cy="310896"/>
          </a:xfrm>
          <a:prstGeom prst="rect">
            <a:avLst/>
          </a:prstGeom>
          <a:solidFill>
            <a:srgbClr val="2032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2"/>
          <p:cNvSpPr/>
          <p:nvPr/>
        </p:nvSpPr>
        <p:spPr>
          <a:xfrm>
            <a:off x="685800" y="203911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Kukarakshan, 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2"/>
          <p:cNvSpPr/>
          <p:nvPr/>
        </p:nvSpPr>
        <p:spPr>
          <a:xfrm>
            <a:off x="2926080" y="2039112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4CE95"/>
                </a:solidFill>
                <a:latin typeface="Calibri"/>
                <a:ea typeface="Calibri"/>
                <a:cs typeface="Calibri"/>
                <a:sym typeface="Calibri"/>
              </a:rPr>
              <a:t>Reservations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2"/>
          <p:cNvSpPr/>
          <p:nvPr/>
        </p:nvSpPr>
        <p:spPr>
          <a:xfrm>
            <a:off x="685800" y="2350008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Madarasingha, TR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2"/>
          <p:cNvSpPr/>
          <p:nvPr/>
        </p:nvSpPr>
        <p:spPr>
          <a:xfrm>
            <a:off x="2926080" y="2350008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4CE95"/>
                </a:solidFill>
                <a:latin typeface="Calibri"/>
                <a:ea typeface="Calibri"/>
                <a:cs typeface="Calibri"/>
                <a:sym typeface="Calibri"/>
              </a:rPr>
              <a:t>Room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2"/>
          <p:cNvSpPr/>
          <p:nvPr/>
        </p:nvSpPr>
        <p:spPr>
          <a:xfrm>
            <a:off x="548640" y="2660904"/>
            <a:ext cx="5303520" cy="310896"/>
          </a:xfrm>
          <a:prstGeom prst="rect">
            <a:avLst/>
          </a:prstGeom>
          <a:solidFill>
            <a:srgbClr val="2032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2"/>
          <p:cNvSpPr/>
          <p:nvPr/>
        </p:nvSpPr>
        <p:spPr>
          <a:xfrm>
            <a:off x="685800" y="2660904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Muhammed, 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2"/>
          <p:cNvSpPr/>
          <p:nvPr/>
        </p:nvSpPr>
        <p:spPr>
          <a:xfrm>
            <a:off x="2926080" y="2660904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4CE95"/>
                </a:solidFill>
                <a:latin typeface="Calibri"/>
                <a:ea typeface="Calibri"/>
                <a:cs typeface="Calibri"/>
                <a:sym typeface="Calibri"/>
              </a:rPr>
              <a:t>Guest Management (CRM)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2"/>
          <p:cNvSpPr/>
          <p:nvPr/>
        </p:nvSpPr>
        <p:spPr>
          <a:xfrm>
            <a:off x="6172200" y="1417320"/>
            <a:ext cx="5303520" cy="310896"/>
          </a:xfrm>
          <a:prstGeom prst="rect">
            <a:avLst/>
          </a:prstGeom>
          <a:solidFill>
            <a:srgbClr val="2032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2"/>
          <p:cNvSpPr/>
          <p:nvPr/>
        </p:nvSpPr>
        <p:spPr>
          <a:xfrm>
            <a:off x="6309360" y="1417320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Nandhatilaka, NHS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2"/>
          <p:cNvSpPr/>
          <p:nvPr/>
        </p:nvSpPr>
        <p:spPr>
          <a:xfrm>
            <a:off x="8549640" y="1417320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4CE95"/>
                </a:solidFill>
                <a:latin typeface="Calibri"/>
                <a:ea typeface="Calibri"/>
                <a:cs typeface="Calibri"/>
                <a:sym typeface="Calibri"/>
              </a:rPr>
              <a:t>Inventory &amp; Supply Chain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2"/>
          <p:cNvSpPr/>
          <p:nvPr/>
        </p:nvSpPr>
        <p:spPr>
          <a:xfrm>
            <a:off x="6309360" y="1728216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Panditharathna, Keshan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2"/>
          <p:cNvSpPr/>
          <p:nvPr/>
        </p:nvSpPr>
        <p:spPr>
          <a:xfrm>
            <a:off x="8549640" y="1728216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4CE95"/>
                </a:solidFill>
                <a:latin typeface="Calibri"/>
                <a:ea typeface="Calibri"/>
                <a:cs typeface="Calibri"/>
                <a:sym typeface="Calibri"/>
              </a:rPr>
              <a:t>Billing &amp; Payments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2"/>
          <p:cNvSpPr/>
          <p:nvPr/>
        </p:nvSpPr>
        <p:spPr>
          <a:xfrm>
            <a:off x="6172200" y="2039112"/>
            <a:ext cx="5303520" cy="310896"/>
          </a:xfrm>
          <a:prstGeom prst="rect">
            <a:avLst/>
          </a:prstGeom>
          <a:solidFill>
            <a:srgbClr val="2032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2"/>
          <p:cNvSpPr/>
          <p:nvPr/>
        </p:nvSpPr>
        <p:spPr>
          <a:xfrm>
            <a:off x="6309360" y="203911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Rejishanth, 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2"/>
          <p:cNvSpPr/>
          <p:nvPr/>
        </p:nvSpPr>
        <p:spPr>
          <a:xfrm>
            <a:off x="8549640" y="2039112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4CE95"/>
                </a:solidFill>
                <a:latin typeface="Calibri"/>
                <a:ea typeface="Calibri"/>
                <a:cs typeface="Calibri"/>
                <a:sym typeface="Calibri"/>
              </a:rPr>
              <a:t>Employees &amp; User Admin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2"/>
          <p:cNvSpPr/>
          <p:nvPr/>
        </p:nvSpPr>
        <p:spPr>
          <a:xfrm>
            <a:off x="6309360" y="2350008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Umayanga, MKKC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2"/>
          <p:cNvSpPr/>
          <p:nvPr/>
        </p:nvSpPr>
        <p:spPr>
          <a:xfrm>
            <a:off x="8549640" y="2350008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4CE95"/>
                </a:solidFill>
                <a:latin typeface="Calibri"/>
                <a:ea typeface="Calibri"/>
                <a:cs typeface="Calibri"/>
                <a:sym typeface="Calibri"/>
              </a:rPr>
              <a:t>Reports &amp; Database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2"/>
          <p:cNvSpPr/>
          <p:nvPr/>
        </p:nvSpPr>
        <p:spPr>
          <a:xfrm>
            <a:off x="6172200" y="2660904"/>
            <a:ext cx="5303520" cy="310896"/>
          </a:xfrm>
          <a:prstGeom prst="rect">
            <a:avLst/>
          </a:prstGeom>
          <a:solidFill>
            <a:srgbClr val="2032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2"/>
          <p:cNvSpPr/>
          <p:nvPr/>
        </p:nvSpPr>
        <p:spPr>
          <a:xfrm>
            <a:off x="6309360" y="2660904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Gunarathne, KADRS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2"/>
          <p:cNvSpPr/>
          <p:nvPr/>
        </p:nvSpPr>
        <p:spPr>
          <a:xfrm>
            <a:off x="8549640" y="2660904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4CE95"/>
                </a:solidFill>
                <a:latin typeface="Calibri"/>
                <a:ea typeface="Calibri"/>
                <a:cs typeface="Calibri"/>
                <a:sym typeface="Calibri"/>
              </a:rPr>
              <a:t>Deployment &amp; DevOps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2"/>
          <p:cNvSpPr/>
          <p:nvPr/>
        </p:nvSpPr>
        <p:spPr>
          <a:xfrm>
            <a:off x="548640" y="3291840"/>
            <a:ext cx="11109960" cy="2468880"/>
          </a:xfrm>
          <a:prstGeom prst="rect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2"/>
          <p:cNvSpPr/>
          <p:nvPr/>
        </p:nvSpPr>
        <p:spPr>
          <a:xfrm>
            <a:off x="868680" y="352044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CLOSING TAKEAWAY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2"/>
          <p:cNvSpPr/>
          <p:nvPr/>
        </p:nvSpPr>
        <p:spPr>
          <a:xfrm>
            <a:off x="868680" y="3886200"/>
            <a:ext cx="10424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This prototype demonstrates how integrating siloed hotel operations into one shared ERP database and workflow eliminates double-bookings, billing errors and stock-outs — while giving every role exactly the access they need. That is the core systems-integration argument at the heart of Enterprise Systems for Management.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2"/>
          <p:cNvSpPr/>
          <p:nvPr/>
        </p:nvSpPr>
        <p:spPr>
          <a:xfrm>
            <a:off x="868680" y="51663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E95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E4CE95"/>
                </a:solidFill>
                <a:latin typeface="Calibri"/>
                <a:ea typeface="Calibri"/>
                <a:cs typeface="Calibri"/>
                <a:sym typeface="Calibri"/>
              </a:rPr>
              <a:t>Thank you — questions welcome.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2"/>
          <p:cNvSpPr/>
          <p:nvPr/>
        </p:nvSpPr>
        <p:spPr>
          <a:xfrm>
            <a:off x="548675" y="5833875"/>
            <a:ext cx="11109900" cy="941700"/>
          </a:xfrm>
          <a:prstGeom prst="rect">
            <a:avLst/>
          </a:prstGeom>
          <a:solidFill>
            <a:srgbClr val="2C4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2"/>
          <p:cNvSpPr/>
          <p:nvPr/>
        </p:nvSpPr>
        <p:spPr>
          <a:xfrm>
            <a:off x="868680" y="5989315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9A15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A15A"/>
                </a:solidFill>
                <a:latin typeface="Calibri"/>
                <a:ea typeface="Calibri"/>
                <a:cs typeface="Calibri"/>
                <a:sym typeface="Calibri"/>
              </a:rPr>
              <a:t>GITHUB LINK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2"/>
          <p:cNvSpPr txBox="1"/>
          <p:nvPr/>
        </p:nvSpPr>
        <p:spPr>
          <a:xfrm>
            <a:off x="835675" y="6300225"/>
            <a:ext cx="7381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https://github.com/angiepiper089/hotelerpf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